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  <p:sldMasterId id="2147483664" r:id="rId6"/>
    <p:sldMasterId id="2147483667" r:id="rId7"/>
    <p:sldMasterId id="2147483669" r:id="rId8"/>
    <p:sldMasterId id="2147483695" r:id="rId9"/>
  </p:sldMasterIdLst>
  <p:notesMasterIdLst>
    <p:notesMasterId r:id="rId24"/>
  </p:notesMasterIdLst>
  <p:sldIdLst>
    <p:sldId id="2147349269" r:id="rId10"/>
    <p:sldId id="2147349556" r:id="rId11"/>
    <p:sldId id="2147349271" r:id="rId12"/>
    <p:sldId id="2147349568" r:id="rId13"/>
    <p:sldId id="2147349572" r:id="rId14"/>
    <p:sldId id="2147349567" r:id="rId15"/>
    <p:sldId id="2147349286" r:id="rId16"/>
    <p:sldId id="2147349573" r:id="rId17"/>
    <p:sldId id="2147349557" r:id="rId18"/>
    <p:sldId id="2147349564" r:id="rId19"/>
    <p:sldId id="2147349569" r:id="rId20"/>
    <p:sldId id="2147349304" r:id="rId21"/>
    <p:sldId id="2147349571" r:id="rId22"/>
    <p:sldId id="214734929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5920"/>
    <a:srgbClr val="004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4660"/>
  </p:normalViewPr>
  <p:slideViewPr>
    <p:cSldViewPr snapToGrid="0">
      <p:cViewPr varScale="1">
        <p:scale>
          <a:sx n="90" d="100"/>
          <a:sy n="90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976B4-D730-4D1B-8876-E25462CEE805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3F933-6DE5-4A5E-AC23-202675104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84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3F933-6DE5-4A5E-AC23-2026751044E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131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3.svg"/><Relationship Id="rId18" Type="http://schemas.openxmlformats.org/officeDocument/2006/relationships/image" Target="../media/image28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12" Type="http://schemas.openxmlformats.org/officeDocument/2006/relationships/image" Target="../media/image22.png"/><Relationship Id="rId17" Type="http://schemas.openxmlformats.org/officeDocument/2006/relationships/image" Target="../media/image27.svg"/><Relationship Id="rId2" Type="http://schemas.openxmlformats.org/officeDocument/2006/relationships/image" Target="../media/image2.png"/><Relationship Id="rId16" Type="http://schemas.openxmlformats.org/officeDocument/2006/relationships/image" Target="../media/image26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8.png"/><Relationship Id="rId11" Type="http://schemas.openxmlformats.org/officeDocument/2006/relationships/image" Target="../media/image4.svg"/><Relationship Id="rId5" Type="http://schemas.openxmlformats.org/officeDocument/2006/relationships/image" Target="../media/image17.png"/><Relationship Id="rId15" Type="http://schemas.openxmlformats.org/officeDocument/2006/relationships/image" Target="../media/image25.svg"/><Relationship Id="rId10" Type="http://schemas.openxmlformats.org/officeDocument/2006/relationships/image" Target="../media/image3.png"/><Relationship Id="rId19" Type="http://schemas.openxmlformats.org/officeDocument/2006/relationships/image" Target="../media/image29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close up of a sign&#10;&#10;Description automatically generated">
            <a:extLst>
              <a:ext uri="{FF2B5EF4-FFF2-40B4-BE49-F238E27FC236}">
                <a16:creationId xmlns:a16="http://schemas.microsoft.com/office/drawing/2014/main" id="{598150A0-C93B-4832-A7CE-1994CD9BA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1" y="1546226"/>
            <a:ext cx="5558880" cy="37665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605C05-9AAF-5392-AFD4-788D836C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0" y="3022600"/>
            <a:ext cx="5492750" cy="1730375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54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78984-344C-C483-4057-C9135C503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250" y="5135563"/>
            <a:ext cx="10515600" cy="558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E0490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5A29EE-CC47-56C3-78C0-E330A96A4A0A}"/>
              </a:ext>
            </a:extLst>
          </p:cNvPr>
          <p:cNvGrpSpPr/>
          <p:nvPr userDrawn="1"/>
        </p:nvGrpSpPr>
        <p:grpSpPr>
          <a:xfrm>
            <a:off x="784091" y="406808"/>
            <a:ext cx="5311909" cy="1269053"/>
            <a:chOff x="784091" y="406808"/>
            <a:chExt cx="5311909" cy="126905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B44064E-1E6E-B1BE-D9E8-155F4A9E9A4D}"/>
                </a:ext>
              </a:extLst>
            </p:cNvPr>
            <p:cNvSpPr txBox="1"/>
            <p:nvPr/>
          </p:nvSpPr>
          <p:spPr>
            <a:xfrm>
              <a:off x="1450366" y="1306529"/>
              <a:ext cx="44729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800" i="1" spc="100" baseline="0">
                  <a:solidFill>
                    <a:srgbClr val="002060"/>
                  </a:solidFill>
                  <a:latin typeface="Poppins SemiBold" panose="00000700000000000000" pitchFamily="50" charset="0"/>
                  <a:ea typeface="Poppins"/>
                  <a:cs typeface="Poppins SemiBold" panose="00000700000000000000" pitchFamily="50" charset="0"/>
                  <a:sym typeface="Poppins"/>
                </a:rPr>
                <a:t>Accelerating Data to Actions</a:t>
              </a:r>
              <a:endParaRPr lang="en-US" sz="1800" i="1" spc="100" baseline="0">
                <a:solidFill>
                  <a:srgbClr val="002060"/>
                </a:solidFill>
                <a:latin typeface="Poppins SemiBold" panose="00000700000000000000" pitchFamily="50" charset="0"/>
                <a:cs typeface="Poppins SemiBold" panose="00000700000000000000" pitchFamily="50" charset="0"/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FFF02E74-A4C8-B3C2-2150-65A9A1BBDA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4091" y="406808"/>
              <a:ext cx="5311909" cy="7568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5478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AFFB2F-334B-DC61-280A-B1E6A28F2B32}"/>
              </a:ext>
            </a:extLst>
          </p:cNvPr>
          <p:cNvCxnSpPr>
            <a:cxnSpLocks/>
          </p:cNvCxnSpPr>
          <p:nvPr userDrawn="1"/>
        </p:nvCxnSpPr>
        <p:spPr>
          <a:xfrm>
            <a:off x="178101" y="800100"/>
            <a:ext cx="11835799" cy="0"/>
          </a:xfrm>
          <a:prstGeom prst="line">
            <a:avLst/>
          </a:prstGeom>
          <a:ln>
            <a:solidFill>
              <a:srgbClr val="F17351"/>
            </a:solidFill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7E7D178-074E-BE3D-4376-E7CB0D8C53AD}"/>
              </a:ext>
            </a:extLst>
          </p:cNvPr>
          <p:cNvSpPr/>
          <p:nvPr userDrawn="1"/>
        </p:nvSpPr>
        <p:spPr>
          <a:xfrm>
            <a:off x="178101" y="6750181"/>
            <a:ext cx="3703320" cy="4647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14E88E-4567-835F-C350-3B7EA1C0FB56}"/>
              </a:ext>
            </a:extLst>
          </p:cNvPr>
          <p:cNvSpPr/>
          <p:nvPr userDrawn="1"/>
        </p:nvSpPr>
        <p:spPr>
          <a:xfrm>
            <a:off x="7773714" y="6748440"/>
            <a:ext cx="3703320" cy="48213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66316D-AEF6-366F-1EA4-73A0E5B78A76}"/>
              </a:ext>
            </a:extLst>
          </p:cNvPr>
          <p:cNvSpPr/>
          <p:nvPr userDrawn="1"/>
        </p:nvSpPr>
        <p:spPr>
          <a:xfrm>
            <a:off x="3973397" y="6747377"/>
            <a:ext cx="3703320" cy="45719"/>
          </a:xfrm>
          <a:prstGeom prst="rect">
            <a:avLst/>
          </a:prstGeom>
          <a:solidFill>
            <a:srgbClr val="E36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698D24A-0D1F-8690-9242-E762A98A08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1442" y="1144000"/>
            <a:ext cx="7686675" cy="5410200"/>
          </a:xfrm>
          <a:prstGeom prst="rect">
            <a:avLst/>
          </a:prstGeom>
        </p:spPr>
        <p:txBody>
          <a:bodyPr/>
          <a:lstStyle>
            <a:lvl1pPr>
              <a:defRPr sz="1200" kern="100" spc="100" baseline="0"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>
              <a:defRPr sz="1200" kern="100" spc="100" baseline="0">
                <a:latin typeface="Poppins" panose="00000500000000000000" pitchFamily="50" charset="0"/>
                <a:cs typeface="Poppins" panose="00000500000000000000" pitchFamily="50" charset="0"/>
              </a:defRPr>
            </a:lvl2pPr>
            <a:lvl3pPr>
              <a:defRPr sz="1200" kern="100" spc="100" baseline="0">
                <a:latin typeface="Poppins" panose="00000500000000000000" pitchFamily="50" charset="0"/>
                <a:cs typeface="Poppins" panose="00000500000000000000" pitchFamily="50" charset="0"/>
              </a:defRPr>
            </a:lvl3pPr>
            <a:lvl4pPr>
              <a:defRPr sz="1200" kern="100" spc="100" baseline="0">
                <a:latin typeface="Poppins" panose="00000500000000000000" pitchFamily="50" charset="0"/>
                <a:cs typeface="Poppins" panose="00000500000000000000" pitchFamily="50" charset="0"/>
              </a:defRPr>
            </a:lvl4pPr>
            <a:lvl5pPr>
              <a:defRPr sz="1200" kern="100" spc="100" baseline="0">
                <a:latin typeface="Poppins" panose="00000500000000000000" pitchFamily="50" charset="0"/>
                <a:cs typeface="Poppins" panose="00000500000000000000" pitchFamily="50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E98D3D8C-4632-DDBA-B562-9B56B95B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01" y="212223"/>
            <a:ext cx="9125255" cy="587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49829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CB301095-AC08-E681-9F4F-A09FEDCC16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098" y="2951223"/>
            <a:ext cx="5217527" cy="3535302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3D1D106-C092-6648-A9B8-944A4FEC0B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375" y="1038225"/>
            <a:ext cx="11525250" cy="54483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200" kern="100" spc="1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4F79588-3787-46D8-67C8-C17C47A625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401" y="212223"/>
            <a:ext cx="9125255" cy="587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</a:lstStyle>
          <a:p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95249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62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1850FAD-EA78-E6BC-1B8A-87BC6D83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275" y="3484476"/>
            <a:ext cx="4534425" cy="587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pc="1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A5E177-BA78-9F2E-4C5D-AD2881CEAA7D}"/>
              </a:ext>
            </a:extLst>
          </p:cNvPr>
          <p:cNvSpPr/>
          <p:nvPr userDrawn="1"/>
        </p:nvSpPr>
        <p:spPr>
          <a:xfrm>
            <a:off x="178101" y="6750181"/>
            <a:ext cx="3703320" cy="4647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C58EA9-1746-C6DC-C477-C2956F9A2DE6}"/>
              </a:ext>
            </a:extLst>
          </p:cNvPr>
          <p:cNvSpPr/>
          <p:nvPr userDrawn="1"/>
        </p:nvSpPr>
        <p:spPr>
          <a:xfrm>
            <a:off x="7773714" y="6748440"/>
            <a:ext cx="3703320" cy="48213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96A35-29F8-6811-7EE9-825905EEF9A4}"/>
              </a:ext>
            </a:extLst>
          </p:cNvPr>
          <p:cNvSpPr/>
          <p:nvPr userDrawn="1"/>
        </p:nvSpPr>
        <p:spPr>
          <a:xfrm>
            <a:off x="3973397" y="6747377"/>
            <a:ext cx="3703320" cy="45719"/>
          </a:xfrm>
          <a:prstGeom prst="rect">
            <a:avLst/>
          </a:prstGeom>
          <a:solidFill>
            <a:srgbClr val="E36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42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standing in a room&#10;&#10;Description automatically generated">
            <a:extLst>
              <a:ext uri="{FF2B5EF4-FFF2-40B4-BE49-F238E27FC236}">
                <a16:creationId xmlns:a16="http://schemas.microsoft.com/office/drawing/2014/main" id="{4EC5E018-104F-42D6-A896-75C9CBFD1C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62500" y="2543175"/>
            <a:ext cx="2667000" cy="1771650"/>
          </a:xfrm>
          <a:prstGeom prst="rect">
            <a:avLst/>
          </a:prstGeom>
        </p:spPr>
      </p:pic>
      <p:pic>
        <p:nvPicPr>
          <p:cNvPr id="10" name="Picture 9" descr="Twisting road thorugh hills and a valley at sunset">
            <a:extLst>
              <a:ext uri="{FF2B5EF4-FFF2-40B4-BE49-F238E27FC236}">
                <a16:creationId xmlns:a16="http://schemas.microsoft.com/office/drawing/2014/main" id="{28404589-AD70-448E-B0BC-8D5886D31B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6625" r="16843"/>
          <a:stretch/>
        </p:blipFill>
        <p:spPr>
          <a:xfrm>
            <a:off x="-1" y="0"/>
            <a:ext cx="12192002" cy="484068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3465C0A-995A-4838-B863-8883251EBC0E}"/>
              </a:ext>
            </a:extLst>
          </p:cNvPr>
          <p:cNvSpPr/>
          <p:nvPr userDrawn="1"/>
        </p:nvSpPr>
        <p:spPr>
          <a:xfrm>
            <a:off x="-1" y="1502"/>
            <a:ext cx="12192000" cy="4839182"/>
          </a:xfrm>
          <a:prstGeom prst="rect">
            <a:avLst/>
          </a:prstGeom>
          <a:solidFill>
            <a:schemeClr val="tx2">
              <a:lumMod val="60000"/>
              <a:lumOff val="4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cap="small" baseline="0"/>
          </a:p>
        </p:txBody>
      </p: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C2D745A2-C4B3-422F-99F0-E5F63398CD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375" r="3290" b="2931"/>
          <a:stretch/>
        </p:blipFill>
        <p:spPr>
          <a:xfrm>
            <a:off x="0" y="4935036"/>
            <a:ext cx="1851919" cy="1821364"/>
          </a:xfrm>
          <a:prstGeom prst="rect">
            <a:avLst/>
          </a:prstGeom>
        </p:spPr>
      </p:pic>
      <p:sp>
        <p:nvSpPr>
          <p:cNvPr id="89" name="Subtitle 2">
            <a:extLst>
              <a:ext uri="{FF2B5EF4-FFF2-40B4-BE49-F238E27FC236}">
                <a16:creationId xmlns:a16="http://schemas.microsoft.com/office/drawing/2014/main" id="{846C184D-E59B-4EF6-8593-BD06CA5A7BD4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99901" y="6071541"/>
            <a:ext cx="7920361" cy="505393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 b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  <a:endParaRPr lang="en-GB"/>
          </a:p>
        </p:txBody>
      </p:sp>
      <p:sp>
        <p:nvSpPr>
          <p:cNvPr id="88" name="Title 1">
            <a:extLst>
              <a:ext uri="{FF2B5EF4-FFF2-40B4-BE49-F238E27FC236}">
                <a16:creationId xmlns:a16="http://schemas.microsoft.com/office/drawing/2014/main" id="{67C29DF4-9A21-4100-ADFF-1C984404FDBD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2379339" y="5223656"/>
            <a:ext cx="9241161" cy="101350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>
              <a:defRPr sz="6600" b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582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;p34" title="left edge border">
            <a:extLst>
              <a:ext uri="{FF2B5EF4-FFF2-40B4-BE49-F238E27FC236}">
                <a16:creationId xmlns:a16="http://schemas.microsoft.com/office/drawing/2014/main" id="{360AF684-BF6F-CA35-81B1-1D6A72614CDF}"/>
              </a:ext>
            </a:extLst>
          </p:cNvPr>
          <p:cNvSpPr/>
          <p:nvPr userDrawn="1"/>
        </p:nvSpPr>
        <p:spPr>
          <a:xfrm rot="5400000">
            <a:off x="5556358" y="-5050431"/>
            <a:ext cx="638610" cy="11236623"/>
          </a:xfrm>
          <a:prstGeom prst="rect">
            <a:avLst/>
          </a:prstGeom>
          <a:gradFill>
            <a:gsLst>
              <a:gs pos="0">
                <a:schemeClr val="accent2"/>
              </a:gs>
              <a:gs pos="49000">
                <a:schemeClr val="accent1"/>
              </a:gs>
              <a:gs pos="91000">
                <a:schemeClr val="dk2"/>
              </a:gs>
              <a:gs pos="100000">
                <a:schemeClr val="dk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Google Shape;22;p34" descr="A close up of a logo&#10;&#10;Description automatically generated">
            <a:extLst>
              <a:ext uri="{FF2B5EF4-FFF2-40B4-BE49-F238E27FC236}">
                <a16:creationId xmlns:a16="http://schemas.microsoft.com/office/drawing/2014/main" id="{E968A429-1BC1-ACBA-C274-02FFD58B422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32075" y="262096"/>
            <a:ext cx="615298" cy="611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2292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text">
    <p:bg>
      <p:bgPr>
        <a:solidFill>
          <a:schemeClr val="bg1">
            <a:lumMod val="95000"/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ADE79-237A-4CA1-8C88-AC659EA52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7827" y="1495514"/>
            <a:ext cx="6289706" cy="4536846"/>
          </a:xfrm>
          <a:solidFill>
            <a:schemeClr val="bg1">
              <a:lumMod val="95000"/>
            </a:schemeClr>
          </a:solidFill>
          <a:effectLst/>
        </p:spPr>
        <p:txBody>
          <a:bodyPr lIns="252000" tIns="252000" rIns="252000" bIns="252000" anchor="ctr"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92D4EEFC-B789-4460-B511-754320127D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7827" y="6142682"/>
            <a:ext cx="615298" cy="611569"/>
          </a:xfrm>
          <a:prstGeom prst="rect">
            <a:avLst/>
          </a:prstGeom>
        </p:spPr>
      </p:pic>
      <p:sp>
        <p:nvSpPr>
          <p:cNvPr id="2" name="Google Shape;20;p34" title="left edge border">
            <a:extLst>
              <a:ext uri="{FF2B5EF4-FFF2-40B4-BE49-F238E27FC236}">
                <a16:creationId xmlns:a16="http://schemas.microsoft.com/office/drawing/2014/main" id="{09F51EF3-145E-6E7C-F3E4-49E497194D87}"/>
              </a:ext>
            </a:extLst>
          </p:cNvPr>
          <p:cNvSpPr/>
          <p:nvPr userDrawn="1"/>
        </p:nvSpPr>
        <p:spPr>
          <a:xfrm rot="5400000">
            <a:off x="5556358" y="-5050431"/>
            <a:ext cx="638610" cy="11236623"/>
          </a:xfrm>
          <a:prstGeom prst="rect">
            <a:avLst/>
          </a:prstGeom>
          <a:gradFill>
            <a:gsLst>
              <a:gs pos="0">
                <a:schemeClr val="accent2"/>
              </a:gs>
              <a:gs pos="49000">
                <a:schemeClr val="accent1"/>
              </a:gs>
              <a:gs pos="91000">
                <a:schemeClr val="dk2"/>
              </a:gs>
              <a:gs pos="100000">
                <a:schemeClr val="dk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22;p34" descr="A close up of a logo&#10;&#10;Description automatically generated">
            <a:extLst>
              <a:ext uri="{FF2B5EF4-FFF2-40B4-BE49-F238E27FC236}">
                <a16:creationId xmlns:a16="http://schemas.microsoft.com/office/drawing/2014/main" id="{70060944-9554-71A2-E81F-D94024B2E75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1532075" y="262096"/>
            <a:ext cx="615298" cy="611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3346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vidual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ADE79-237A-4CA1-8C88-AC659EA52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9980" y="1158972"/>
            <a:ext cx="5761607" cy="1560252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FFE88C2-7C2D-4192-A3C6-99713ED565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69980" y="2945853"/>
            <a:ext cx="5761607" cy="1560252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78202B1-7052-484B-B848-38F9326E66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9980" y="4732734"/>
            <a:ext cx="5761607" cy="1560252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75211A-A67B-45C7-BF51-6A590B2A17E2}"/>
              </a:ext>
            </a:extLst>
          </p:cNvPr>
          <p:cNvSpPr/>
          <p:nvPr userDrawn="1"/>
        </p:nvSpPr>
        <p:spPr>
          <a:xfrm>
            <a:off x="5643497" y="1160424"/>
            <a:ext cx="435005" cy="15588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Your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C3A068-D7A1-4189-8B81-7D8E638886C9}"/>
              </a:ext>
            </a:extLst>
          </p:cNvPr>
          <p:cNvSpPr/>
          <p:nvPr userDrawn="1"/>
        </p:nvSpPr>
        <p:spPr>
          <a:xfrm>
            <a:off x="5643497" y="2947305"/>
            <a:ext cx="435005" cy="15588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Our Approach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3BB6C6-CF1D-4D4B-9453-C20599B2474A}"/>
              </a:ext>
            </a:extLst>
          </p:cNvPr>
          <p:cNvSpPr/>
          <p:nvPr userDrawn="1"/>
        </p:nvSpPr>
        <p:spPr>
          <a:xfrm>
            <a:off x="5643497" y="4732734"/>
            <a:ext cx="435005" cy="15588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Your Outcomes</a:t>
            </a:r>
          </a:p>
        </p:txBody>
      </p:sp>
      <p:pic>
        <p:nvPicPr>
          <p:cNvPr id="7" name="Google Shape;22;p34" descr="A close up of a logo&#10;&#10;Description automatically generated">
            <a:extLst>
              <a:ext uri="{FF2B5EF4-FFF2-40B4-BE49-F238E27FC236}">
                <a16:creationId xmlns:a16="http://schemas.microsoft.com/office/drawing/2014/main" id="{E635A841-1AA1-A6A9-F83D-770E691628F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32075" y="262096"/>
            <a:ext cx="615298" cy="611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623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Individual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ADE79-237A-4CA1-8C88-AC659EA52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8972" y="1227337"/>
            <a:ext cx="5761607" cy="1560252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FFE88C2-7C2D-4192-A3C6-99713ED565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8972" y="3014218"/>
            <a:ext cx="5761607" cy="1560252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/>
            </a:lvl1pPr>
            <a:lvl2pPr marL="457200" indent="0">
              <a:buNone/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78202B1-7052-484B-B848-38F9326E66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8972" y="4801099"/>
            <a:ext cx="5761607" cy="1560252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75211A-A67B-45C7-BF51-6A590B2A17E2}"/>
              </a:ext>
            </a:extLst>
          </p:cNvPr>
          <p:cNvSpPr/>
          <p:nvPr userDrawn="1"/>
        </p:nvSpPr>
        <p:spPr>
          <a:xfrm>
            <a:off x="272489" y="1228789"/>
            <a:ext cx="435005" cy="15588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Your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C3A068-D7A1-4189-8B81-7D8E638886C9}"/>
              </a:ext>
            </a:extLst>
          </p:cNvPr>
          <p:cNvSpPr/>
          <p:nvPr userDrawn="1"/>
        </p:nvSpPr>
        <p:spPr>
          <a:xfrm>
            <a:off x="272489" y="3015670"/>
            <a:ext cx="435005" cy="15588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Our Approach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3BB6C6-CF1D-4D4B-9453-C20599B2474A}"/>
              </a:ext>
            </a:extLst>
          </p:cNvPr>
          <p:cNvSpPr/>
          <p:nvPr userDrawn="1"/>
        </p:nvSpPr>
        <p:spPr>
          <a:xfrm>
            <a:off x="272489" y="4801099"/>
            <a:ext cx="435005" cy="15588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Your Outcomes</a:t>
            </a:r>
          </a:p>
        </p:txBody>
      </p:sp>
      <p:sp>
        <p:nvSpPr>
          <p:cNvPr id="2" name="Google Shape;20;p34" title="left edge border">
            <a:extLst>
              <a:ext uri="{FF2B5EF4-FFF2-40B4-BE49-F238E27FC236}">
                <a16:creationId xmlns:a16="http://schemas.microsoft.com/office/drawing/2014/main" id="{27B5AE0E-F582-5764-5538-8BC165B1E405}"/>
              </a:ext>
            </a:extLst>
          </p:cNvPr>
          <p:cNvSpPr/>
          <p:nvPr userDrawn="1"/>
        </p:nvSpPr>
        <p:spPr>
          <a:xfrm rot="5400000">
            <a:off x="5556358" y="-5050431"/>
            <a:ext cx="638610" cy="11236623"/>
          </a:xfrm>
          <a:prstGeom prst="rect">
            <a:avLst/>
          </a:prstGeom>
          <a:gradFill>
            <a:gsLst>
              <a:gs pos="0">
                <a:schemeClr val="accent2"/>
              </a:gs>
              <a:gs pos="49000">
                <a:schemeClr val="accent1"/>
              </a:gs>
              <a:gs pos="91000">
                <a:schemeClr val="dk2"/>
              </a:gs>
              <a:gs pos="100000">
                <a:schemeClr val="dk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22;p34" descr="A close up of a logo&#10;&#10;Description automatically generated">
            <a:extLst>
              <a:ext uri="{FF2B5EF4-FFF2-40B4-BE49-F238E27FC236}">
                <a16:creationId xmlns:a16="http://schemas.microsoft.com/office/drawing/2014/main" id="{22301DDC-B272-4B0E-CCC4-6E5232A3F93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32075" y="262096"/>
            <a:ext cx="615298" cy="611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660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Individual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ADE79-237A-4CA1-8C88-AC659EA52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8972" y="1124785"/>
            <a:ext cx="5761607" cy="1378323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FFE88C2-7C2D-4192-A3C6-99713ED565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8972" y="2732200"/>
            <a:ext cx="5761607" cy="1378323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78202B1-7052-484B-B848-38F9326E66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8972" y="4341262"/>
            <a:ext cx="5761607" cy="1823532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75211A-A67B-45C7-BF51-6A590B2A17E2}"/>
              </a:ext>
            </a:extLst>
          </p:cNvPr>
          <p:cNvSpPr/>
          <p:nvPr userDrawn="1"/>
        </p:nvSpPr>
        <p:spPr>
          <a:xfrm>
            <a:off x="272489" y="1126237"/>
            <a:ext cx="435005" cy="13770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Your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C3A068-D7A1-4189-8B81-7D8E638886C9}"/>
              </a:ext>
            </a:extLst>
          </p:cNvPr>
          <p:cNvSpPr/>
          <p:nvPr userDrawn="1"/>
        </p:nvSpPr>
        <p:spPr>
          <a:xfrm>
            <a:off x="272489" y="2733652"/>
            <a:ext cx="435005" cy="13770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Our Approach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3BB6C6-CF1D-4D4B-9453-C20599B2474A}"/>
              </a:ext>
            </a:extLst>
          </p:cNvPr>
          <p:cNvSpPr/>
          <p:nvPr userDrawn="1"/>
        </p:nvSpPr>
        <p:spPr>
          <a:xfrm>
            <a:off x="272489" y="4341506"/>
            <a:ext cx="435005" cy="182183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Your Outcomes</a:t>
            </a:r>
          </a:p>
        </p:txBody>
      </p:sp>
      <p:sp>
        <p:nvSpPr>
          <p:cNvPr id="2" name="Google Shape;20;p34" title="left edge border">
            <a:extLst>
              <a:ext uri="{FF2B5EF4-FFF2-40B4-BE49-F238E27FC236}">
                <a16:creationId xmlns:a16="http://schemas.microsoft.com/office/drawing/2014/main" id="{8C0A32E5-B343-9E01-CFB0-AD970C587EE1}"/>
              </a:ext>
            </a:extLst>
          </p:cNvPr>
          <p:cNvSpPr/>
          <p:nvPr userDrawn="1"/>
        </p:nvSpPr>
        <p:spPr>
          <a:xfrm rot="5400000">
            <a:off x="5556358" y="-5050431"/>
            <a:ext cx="638610" cy="11236623"/>
          </a:xfrm>
          <a:prstGeom prst="rect">
            <a:avLst/>
          </a:prstGeom>
          <a:gradFill>
            <a:gsLst>
              <a:gs pos="0">
                <a:schemeClr val="accent2"/>
              </a:gs>
              <a:gs pos="49000">
                <a:schemeClr val="accent1"/>
              </a:gs>
              <a:gs pos="91000">
                <a:schemeClr val="dk2"/>
              </a:gs>
              <a:gs pos="100000">
                <a:schemeClr val="dk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22;p34" descr="A close up of a logo&#10;&#10;Description automatically generated">
            <a:extLst>
              <a:ext uri="{FF2B5EF4-FFF2-40B4-BE49-F238E27FC236}">
                <a16:creationId xmlns:a16="http://schemas.microsoft.com/office/drawing/2014/main" id="{B1670BE0-9271-963B-85A7-BE913CC4C08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32075" y="262096"/>
            <a:ext cx="615298" cy="611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0668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E7C11A-DC76-AA93-24A2-AC1B4EC14FDA}"/>
              </a:ext>
            </a:extLst>
          </p:cNvPr>
          <p:cNvSpPr/>
          <p:nvPr userDrawn="1"/>
        </p:nvSpPr>
        <p:spPr>
          <a:xfrm flipV="1">
            <a:off x="94635" y="6757750"/>
            <a:ext cx="3703320" cy="4571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2571FC-995A-E65F-4324-2F100FE07E88}"/>
              </a:ext>
            </a:extLst>
          </p:cNvPr>
          <p:cNvSpPr/>
          <p:nvPr userDrawn="1"/>
        </p:nvSpPr>
        <p:spPr>
          <a:xfrm flipV="1">
            <a:off x="7690248" y="6758620"/>
            <a:ext cx="3703320" cy="45719"/>
          </a:xfrm>
          <a:prstGeom prst="rect">
            <a:avLst/>
          </a:prstGeom>
          <a:solidFill>
            <a:srgbClr val="C1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C5BF30-9876-B783-0C6C-F51574897A82}"/>
              </a:ext>
            </a:extLst>
          </p:cNvPr>
          <p:cNvSpPr/>
          <p:nvPr userDrawn="1"/>
        </p:nvSpPr>
        <p:spPr>
          <a:xfrm flipV="1">
            <a:off x="3889931" y="6757373"/>
            <a:ext cx="3703320" cy="45719"/>
          </a:xfrm>
          <a:prstGeom prst="rect">
            <a:avLst/>
          </a:prstGeom>
          <a:solidFill>
            <a:srgbClr val="7B8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89603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08BF373-83E5-3817-2F89-F4D1B389B527}"/>
              </a:ext>
            </a:extLst>
          </p:cNvPr>
          <p:cNvSpPr txBox="1">
            <a:spLocks/>
          </p:cNvSpPr>
          <p:nvPr userDrawn="1"/>
        </p:nvSpPr>
        <p:spPr>
          <a:xfrm>
            <a:off x="10668000" y="6697130"/>
            <a:ext cx="2743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00" spc="100">
                <a:solidFill>
                  <a:schemeClr val="bg1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482470-6116-40FE-9371-56657BCA399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B06A31-B02A-BE98-CF46-C8A31BECCE07}"/>
              </a:ext>
            </a:extLst>
          </p:cNvPr>
          <p:cNvSpPr/>
          <p:nvPr userDrawn="1"/>
        </p:nvSpPr>
        <p:spPr>
          <a:xfrm flipV="1">
            <a:off x="94635" y="6757750"/>
            <a:ext cx="3703320" cy="4571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1724AB-71B8-78E3-CF5F-0C56709EEB8C}"/>
              </a:ext>
            </a:extLst>
          </p:cNvPr>
          <p:cNvSpPr/>
          <p:nvPr userDrawn="1"/>
        </p:nvSpPr>
        <p:spPr>
          <a:xfrm flipV="1">
            <a:off x="7690248" y="6758620"/>
            <a:ext cx="3703320" cy="45719"/>
          </a:xfrm>
          <a:prstGeom prst="rect">
            <a:avLst/>
          </a:prstGeom>
          <a:solidFill>
            <a:srgbClr val="C1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60E1E3-70C1-4694-3FF0-517CC2D453C7}"/>
              </a:ext>
            </a:extLst>
          </p:cNvPr>
          <p:cNvSpPr/>
          <p:nvPr userDrawn="1"/>
        </p:nvSpPr>
        <p:spPr>
          <a:xfrm flipV="1">
            <a:off x="3889931" y="6757373"/>
            <a:ext cx="3703320" cy="45719"/>
          </a:xfrm>
          <a:prstGeom prst="rect">
            <a:avLst/>
          </a:prstGeom>
          <a:solidFill>
            <a:srgbClr val="7B8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66440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close up of a sign&#10;&#10;Description automatically generated">
            <a:extLst>
              <a:ext uri="{FF2B5EF4-FFF2-40B4-BE49-F238E27FC236}">
                <a16:creationId xmlns:a16="http://schemas.microsoft.com/office/drawing/2014/main" id="{3E5FD762-46D4-677E-96E6-A8D02450E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1" y="1546226"/>
            <a:ext cx="5558880" cy="37665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605C05-9AAF-5392-AFD4-788D836C6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062" y="2738716"/>
            <a:ext cx="5492750" cy="94663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4500">
                <a:solidFill>
                  <a:srgbClr val="002060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1EA3CEE-85DC-B367-8164-5CC741BA036E}"/>
              </a:ext>
            </a:extLst>
          </p:cNvPr>
          <p:cNvGrpSpPr/>
          <p:nvPr userDrawn="1"/>
        </p:nvGrpSpPr>
        <p:grpSpPr>
          <a:xfrm>
            <a:off x="534062" y="6005961"/>
            <a:ext cx="1157393" cy="361803"/>
            <a:chOff x="8134389" y="5753870"/>
            <a:chExt cx="1698608" cy="5309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D3C0C0C-6E6A-C3E1-ACDC-7C18D7D7A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0786" y="5753870"/>
              <a:ext cx="524044" cy="52404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E02AFDE-EB79-294A-5660-AB3ECC469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34389" y="5754973"/>
              <a:ext cx="522941" cy="52294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26F917B-F04A-2F0E-AB08-B07F695DA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08953" y="5760814"/>
              <a:ext cx="524044" cy="524044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8CAD43C-0C84-237A-2462-95BAC619D568}"/>
              </a:ext>
            </a:extLst>
          </p:cNvPr>
          <p:cNvGrpSpPr/>
          <p:nvPr userDrawn="1"/>
        </p:nvGrpSpPr>
        <p:grpSpPr>
          <a:xfrm>
            <a:off x="534062" y="3967666"/>
            <a:ext cx="5900027" cy="341878"/>
            <a:chOff x="2864592" y="3634463"/>
            <a:chExt cx="5900027" cy="341878"/>
          </a:xfrm>
        </p:grpSpPr>
        <p:sp>
          <p:nvSpPr>
            <p:cNvPr id="9" name="Text Placeholder 3">
              <a:extLst>
                <a:ext uri="{FF2B5EF4-FFF2-40B4-BE49-F238E27FC236}">
                  <a16:creationId xmlns:a16="http://schemas.microsoft.com/office/drawing/2014/main" id="{6AB08A33-33A7-768F-753A-06EDCD13A4F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191440" y="3659205"/>
              <a:ext cx="2545049" cy="292394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bg1"/>
                  </a:solidFill>
                  <a:latin typeface="Poppins SemiBold" panose="00000700000000000000" pitchFamily="50" charset="0"/>
                  <a:ea typeface="+mn-ea"/>
                  <a:cs typeface="Poppins SemiBold" panose="00000700000000000000" pitchFamily="50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002060"/>
                  </a:solidFill>
                </a:rPr>
                <a:t>engage@exponentia.ai</a:t>
              </a:r>
            </a:p>
          </p:txBody>
        </p:sp>
        <p:sp>
          <p:nvSpPr>
            <p:cNvPr id="10" name="Text Placeholder 3">
              <a:extLst>
                <a:ext uri="{FF2B5EF4-FFF2-40B4-BE49-F238E27FC236}">
                  <a16:creationId xmlns:a16="http://schemas.microsoft.com/office/drawing/2014/main" id="{86F01CCD-BB01-3B94-B0E9-5A1FD7E371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219570" y="3659205"/>
              <a:ext cx="2545049" cy="292394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bg1"/>
                  </a:solidFill>
                  <a:latin typeface="Poppins SemiBold" panose="00000700000000000000" pitchFamily="50" charset="0"/>
                  <a:ea typeface="+mn-ea"/>
                  <a:cs typeface="Poppins SemiBold" panose="00000700000000000000" pitchFamily="50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002060"/>
                  </a:solidFill>
                </a:rPr>
                <a:t>www.exponentia.ai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45E4EE4-9A17-F71C-9F1E-659A0D6B15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64592" y="3660146"/>
              <a:ext cx="348616" cy="290513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BA1C6ED-414D-291E-BC3A-C85C2CEC2E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08303" y="3634463"/>
              <a:ext cx="341878" cy="341878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AF936AB-93BC-1468-6168-D8FA9FE266EB}"/>
              </a:ext>
            </a:extLst>
          </p:cNvPr>
          <p:cNvGrpSpPr/>
          <p:nvPr userDrawn="1"/>
        </p:nvGrpSpPr>
        <p:grpSpPr>
          <a:xfrm>
            <a:off x="784091" y="406808"/>
            <a:ext cx="5311909" cy="1269053"/>
            <a:chOff x="784091" y="406808"/>
            <a:chExt cx="5311909" cy="1269053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9684D4F-F65E-F128-D788-BAF084D3264A}"/>
                </a:ext>
              </a:extLst>
            </p:cNvPr>
            <p:cNvSpPr txBox="1"/>
            <p:nvPr/>
          </p:nvSpPr>
          <p:spPr>
            <a:xfrm>
              <a:off x="1450366" y="1306529"/>
              <a:ext cx="44729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800" i="1" spc="100" baseline="0">
                  <a:solidFill>
                    <a:srgbClr val="002060"/>
                  </a:solidFill>
                  <a:latin typeface="Poppins SemiBold" panose="00000700000000000000" pitchFamily="50" charset="0"/>
                  <a:ea typeface="Poppins"/>
                  <a:cs typeface="Poppins SemiBold" panose="00000700000000000000" pitchFamily="50" charset="0"/>
                  <a:sym typeface="Poppins"/>
                </a:rPr>
                <a:t>Accelerating Data to Actions</a:t>
              </a:r>
              <a:endParaRPr lang="en-US" sz="1800" i="1" spc="100" baseline="0">
                <a:solidFill>
                  <a:srgbClr val="002060"/>
                </a:solidFill>
                <a:latin typeface="Poppins SemiBold" panose="00000700000000000000" pitchFamily="50" charset="0"/>
                <a:cs typeface="Poppins SemiBold" panose="00000700000000000000" pitchFamily="50" charset="0"/>
              </a:endParaRPr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FB02DB3C-EB6D-7656-FB64-BA9AF80C3F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84091" y="406808"/>
              <a:ext cx="5311909" cy="75683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25C81AC-AC1D-3900-7861-CDC32BBD20C7}"/>
              </a:ext>
            </a:extLst>
          </p:cNvPr>
          <p:cNvGrpSpPr/>
          <p:nvPr userDrawn="1"/>
        </p:nvGrpSpPr>
        <p:grpSpPr>
          <a:xfrm>
            <a:off x="528547" y="4577224"/>
            <a:ext cx="4043933" cy="1123382"/>
            <a:chOff x="528547" y="4501024"/>
            <a:chExt cx="4043933" cy="1123382"/>
          </a:xfrm>
        </p:grpSpPr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74AAC53A-6730-BBA9-7072-2C827F226A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97229" y="4549242"/>
              <a:ext cx="585897" cy="666157"/>
            </a:xfrm>
            <a:prstGeom prst="rect">
              <a:avLst/>
            </a:prstGeom>
          </p:spPr>
        </p:pic>
        <p:sp>
          <p:nvSpPr>
            <p:cNvPr id="26" name="Text Placeholder 3">
              <a:extLst>
                <a:ext uri="{FF2B5EF4-FFF2-40B4-BE49-F238E27FC236}">
                  <a16:creationId xmlns:a16="http://schemas.microsoft.com/office/drawing/2014/main" id="{24CD5B5A-0077-C7FA-25FE-5F34885364B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28547" y="5378028"/>
              <a:ext cx="1112231" cy="246378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00" spc="100" baseline="0">
                  <a:solidFill>
                    <a:schemeClr val="bg1"/>
                  </a:solidFill>
                  <a:latin typeface="Poppins SemiBold" panose="00000700000000000000" pitchFamily="50" charset="0"/>
                  <a:ea typeface="+mn-ea"/>
                  <a:cs typeface="Poppins SemiBold" panose="00000700000000000000" pitchFamily="50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DE4D26"/>
                  </a:solidFill>
                </a:rPr>
                <a:t>UK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3605DC3-8828-4382-E601-99D7C2DFBE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631654" y="4653580"/>
              <a:ext cx="585897" cy="561819"/>
            </a:xfrm>
            <a:prstGeom prst="rect">
              <a:avLst/>
            </a:prstGeom>
          </p:spPr>
        </p:pic>
        <p:sp>
          <p:nvSpPr>
            <p:cNvPr id="24" name="Text Placeholder 3">
              <a:extLst>
                <a:ext uri="{FF2B5EF4-FFF2-40B4-BE49-F238E27FC236}">
                  <a16:creationId xmlns:a16="http://schemas.microsoft.com/office/drawing/2014/main" id="{C112FB81-431E-FE6D-A26C-42B561C7FF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305959" y="5378028"/>
              <a:ext cx="1112231" cy="246378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00" spc="100" baseline="0">
                  <a:solidFill>
                    <a:schemeClr val="bg1"/>
                  </a:solidFill>
                  <a:latin typeface="Poppins SemiBold" panose="00000700000000000000" pitchFamily="50" charset="0"/>
                  <a:ea typeface="+mn-ea"/>
                  <a:cs typeface="Poppins SemiBold" panose="00000700000000000000" pitchFamily="50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DE4D26"/>
                  </a:solidFill>
                </a:rPr>
                <a:t>INDIA</a:t>
              </a: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71BFA85-96D5-5619-FE03-D04287305C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638651" y="4653580"/>
              <a:ext cx="585897" cy="561819"/>
            </a:xfrm>
            <a:prstGeom prst="rect">
              <a:avLst/>
            </a:prstGeom>
          </p:spPr>
        </p:pic>
        <p:sp>
          <p:nvSpPr>
            <p:cNvPr id="22" name="Text Placeholder 3">
              <a:extLst>
                <a:ext uri="{FF2B5EF4-FFF2-40B4-BE49-F238E27FC236}">
                  <a16:creationId xmlns:a16="http://schemas.microsoft.com/office/drawing/2014/main" id="{4D1828E1-8882-DADD-63A3-9E5697550B0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90719" y="5378028"/>
              <a:ext cx="1281761" cy="246378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00" spc="100" baseline="0">
                  <a:solidFill>
                    <a:schemeClr val="bg1"/>
                  </a:solidFill>
                  <a:latin typeface="Poppins SemiBold" panose="00000700000000000000" pitchFamily="50" charset="0"/>
                  <a:ea typeface="+mn-ea"/>
                  <a:cs typeface="Poppins SemiBold" panose="00000700000000000000" pitchFamily="50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DE4D26"/>
                  </a:solidFill>
                </a:rPr>
                <a:t>SINGAPORE</a:t>
              </a:r>
            </a:p>
          </p:txBody>
        </p:sp>
        <p:sp>
          <p:nvSpPr>
            <p:cNvPr id="15" name="Text Placeholder 3">
              <a:extLst>
                <a:ext uri="{FF2B5EF4-FFF2-40B4-BE49-F238E27FC236}">
                  <a16:creationId xmlns:a16="http://schemas.microsoft.com/office/drawing/2014/main" id="{CF479B5A-C590-D71D-4B5F-3040704DFDB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432830" y="5378028"/>
              <a:ext cx="1112231" cy="246378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00" spc="100" baseline="0">
                  <a:solidFill>
                    <a:schemeClr val="bg1"/>
                  </a:solidFill>
                  <a:latin typeface="Poppins SemiBold" panose="00000700000000000000" pitchFamily="50" charset="0"/>
                  <a:ea typeface="+mn-ea"/>
                  <a:cs typeface="Poppins SemiBold" panose="00000700000000000000" pitchFamily="50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DE4D26"/>
                  </a:solidFill>
                </a:rPr>
                <a:t>US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5C55F3A5-1C59-BAA7-E56A-3A4D221660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734459" y="4501024"/>
              <a:ext cx="571500" cy="714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215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4.svg"/><Relationship Id="rId5" Type="http://schemas.microsoft.com/office/2007/relationships/hdphoto" Target="../media/hdphoto1.wdp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9.sv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E4A116DB-5A1A-F834-ABBB-356A8476DA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8" t="9020" r="2309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97AF2CB-A5D7-DFC8-4DD8-03BB2DB8B6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6330">
                <a:schemeClr val="bg1">
                  <a:alpha val="0"/>
                </a:schemeClr>
              </a:gs>
              <a:gs pos="50000">
                <a:srgbClr val="FFFFFF">
                  <a:alpha val="79000"/>
                </a:srgbClr>
              </a:gs>
              <a:gs pos="30000">
                <a:schemeClr val="bg1"/>
              </a:gs>
              <a:gs pos="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5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00" spc="100" baseline="0">
          <a:solidFill>
            <a:schemeClr val="bg1"/>
          </a:solidFill>
          <a:latin typeface="Poppins SemiBold" panose="00000700000000000000" pitchFamily="50" charset="0"/>
          <a:ea typeface="+mj-ea"/>
          <a:cs typeface="Poppins SemiBold" panose="00000700000000000000" pitchFamily="50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00" spc="100" baseline="0">
          <a:solidFill>
            <a:schemeClr val="bg1"/>
          </a:solidFill>
          <a:latin typeface="Poppins" panose="00000500000000000000" pitchFamily="50" charset="0"/>
          <a:ea typeface="+mn-ea"/>
          <a:cs typeface="Poppins" panose="00000500000000000000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close up of a sign&#10;&#10;Description automatically generated">
            <a:extLst>
              <a:ext uri="{FF2B5EF4-FFF2-40B4-BE49-F238E27FC236}">
                <a16:creationId xmlns:a16="http://schemas.microsoft.com/office/drawing/2014/main" id="{3E0392BA-B6F7-017A-839B-2ED08E2E2A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655" y="2692103"/>
            <a:ext cx="5956717" cy="4036164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A3497FC-1B22-C042-65D1-24D8B9ECB4E3}"/>
              </a:ext>
            </a:extLst>
          </p:cNvPr>
          <p:cNvSpPr txBox="1">
            <a:spLocks/>
          </p:cNvSpPr>
          <p:nvPr userDrawn="1"/>
        </p:nvSpPr>
        <p:spPr>
          <a:xfrm>
            <a:off x="10668000" y="6697130"/>
            <a:ext cx="2743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00" spc="100">
                <a:solidFill>
                  <a:schemeClr val="bg1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470-6116-40FE-9371-56657BCA3991}" type="slidenum">
              <a:rPr kumimoji="0" lang="en-US" sz="800" b="0" i="0" u="none" strike="noStrike" kern="1200" cap="none" spc="10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Poppins" panose="00000500000000000000" pitchFamily="50" charset="0"/>
                <a:ea typeface="+mn-e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10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Poppins" panose="00000500000000000000" pitchFamily="50" charset="0"/>
              <a:ea typeface="+mn-ea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EE187B-B548-0BA5-5F15-D009EA96AA10}"/>
              </a:ext>
            </a:extLst>
          </p:cNvPr>
          <p:cNvCxnSpPr>
            <a:cxnSpLocks/>
          </p:cNvCxnSpPr>
          <p:nvPr userDrawn="1"/>
        </p:nvCxnSpPr>
        <p:spPr>
          <a:xfrm>
            <a:off x="178101" y="800100"/>
            <a:ext cx="11835799" cy="0"/>
          </a:xfrm>
          <a:prstGeom prst="line">
            <a:avLst/>
          </a:prstGeom>
          <a:ln>
            <a:solidFill>
              <a:srgbClr val="F17351"/>
            </a:solidFill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83FC155C-E0B2-C27A-3D0D-2F48CA2B0487}"/>
              </a:ext>
            </a:extLst>
          </p:cNvPr>
          <p:cNvSpPr/>
          <p:nvPr userDrawn="1"/>
        </p:nvSpPr>
        <p:spPr>
          <a:xfrm>
            <a:off x="178101" y="6750181"/>
            <a:ext cx="3703320" cy="4647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8D19C34-C7FB-B7DD-E199-03DDC4C555C7}"/>
              </a:ext>
            </a:extLst>
          </p:cNvPr>
          <p:cNvSpPr/>
          <p:nvPr userDrawn="1"/>
        </p:nvSpPr>
        <p:spPr>
          <a:xfrm>
            <a:off x="7773714" y="6748440"/>
            <a:ext cx="3703320" cy="48213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E3873D5-79F9-6FD8-C3D9-F0D3AEC8E595}"/>
              </a:ext>
            </a:extLst>
          </p:cNvPr>
          <p:cNvSpPr/>
          <p:nvPr userDrawn="1"/>
        </p:nvSpPr>
        <p:spPr>
          <a:xfrm>
            <a:off x="3973397" y="6747377"/>
            <a:ext cx="3703320" cy="45719"/>
          </a:xfrm>
          <a:prstGeom prst="rect">
            <a:avLst/>
          </a:prstGeom>
          <a:solidFill>
            <a:srgbClr val="E36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68352901-0497-F9D1-02CA-002AD38209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77933" y="253885"/>
            <a:ext cx="2539051" cy="36175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05E7864-B3C4-9C26-C73B-875EBEF9C2B6}"/>
              </a:ext>
            </a:extLst>
          </p:cNvPr>
          <p:cNvSpPr/>
          <p:nvPr userDrawn="1"/>
        </p:nvSpPr>
        <p:spPr>
          <a:xfrm>
            <a:off x="665297" y="2450745"/>
            <a:ext cx="2728928" cy="264598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60B2BA-BEA3-31C6-CF3B-396D1EF0DA0E}"/>
              </a:ext>
            </a:extLst>
          </p:cNvPr>
          <p:cNvGrpSpPr/>
          <p:nvPr userDrawn="1"/>
        </p:nvGrpSpPr>
        <p:grpSpPr>
          <a:xfrm>
            <a:off x="1459285" y="3220601"/>
            <a:ext cx="1140952" cy="1106275"/>
            <a:chOff x="5562600" y="3255963"/>
            <a:chExt cx="346075" cy="346075"/>
          </a:xfrm>
          <a:solidFill>
            <a:srgbClr val="004F99"/>
          </a:solidFill>
        </p:grpSpPr>
        <p:sp>
          <p:nvSpPr>
            <p:cNvPr id="21" name="Freeform 58">
              <a:extLst>
                <a:ext uri="{FF2B5EF4-FFF2-40B4-BE49-F238E27FC236}">
                  <a16:creationId xmlns:a16="http://schemas.microsoft.com/office/drawing/2014/main" id="{D725A03E-7CD0-3BCE-ACB2-847C3B015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3286125"/>
              <a:ext cx="346075" cy="315913"/>
            </a:xfrm>
            <a:custGeom>
              <a:avLst/>
              <a:gdLst>
                <a:gd name="T0" fmla="*/ 38 w 218"/>
                <a:gd name="T1" fmla="*/ 0 h 199"/>
                <a:gd name="T2" fmla="*/ 0 w 218"/>
                <a:gd name="T3" fmla="*/ 0 h 199"/>
                <a:gd name="T4" fmla="*/ 0 w 218"/>
                <a:gd name="T5" fmla="*/ 199 h 199"/>
                <a:gd name="T6" fmla="*/ 218 w 218"/>
                <a:gd name="T7" fmla="*/ 199 h 199"/>
                <a:gd name="T8" fmla="*/ 218 w 218"/>
                <a:gd name="T9" fmla="*/ 0 h 199"/>
                <a:gd name="T10" fmla="*/ 180 w 218"/>
                <a:gd name="T1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8" h="199">
                  <a:moveTo>
                    <a:pt x="38" y="0"/>
                  </a:moveTo>
                  <a:lnTo>
                    <a:pt x="0" y="0"/>
                  </a:lnTo>
                  <a:lnTo>
                    <a:pt x="0" y="199"/>
                  </a:lnTo>
                  <a:lnTo>
                    <a:pt x="218" y="199"/>
                  </a:lnTo>
                  <a:lnTo>
                    <a:pt x="218" y="0"/>
                  </a:lnTo>
                  <a:lnTo>
                    <a:pt x="180" y="0"/>
                  </a:lnTo>
                </a:path>
              </a:pathLst>
            </a:cu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5C86903-F2AE-EA47-078C-85D2BE750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2925" y="3255963"/>
              <a:ext cx="44450" cy="60325"/>
            </a:xfrm>
            <a:prstGeom prst="rect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96F0629-577F-F693-54BB-B4BA72B7A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3900" y="3255963"/>
              <a:ext cx="44450" cy="60325"/>
            </a:xfrm>
            <a:prstGeom prst="rect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4" name="Line 61">
              <a:extLst>
                <a:ext uri="{FF2B5EF4-FFF2-40B4-BE49-F238E27FC236}">
                  <a16:creationId xmlns:a16="http://schemas.microsoft.com/office/drawing/2014/main" id="{36DE21C9-3B38-DD08-7028-C5942C3F9A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7375" y="3286125"/>
              <a:ext cx="136525" cy="0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5" name="Line 62">
              <a:extLst>
                <a:ext uri="{FF2B5EF4-FFF2-40B4-BE49-F238E27FC236}">
                  <a16:creationId xmlns:a16="http://schemas.microsoft.com/office/drawing/2014/main" id="{C7CF8984-1D94-2891-A88C-70E800205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3360738"/>
              <a:ext cx="346075" cy="0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6" name="Line 63">
              <a:extLst>
                <a:ext uri="{FF2B5EF4-FFF2-40B4-BE49-F238E27FC236}">
                  <a16:creationId xmlns:a16="http://schemas.microsoft.com/office/drawing/2014/main" id="{14501E3F-52EC-25C6-8C29-06D8972D9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3088" y="3390900"/>
              <a:ext cx="0" cy="180975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7" name="Line 64">
              <a:extLst>
                <a:ext uri="{FF2B5EF4-FFF2-40B4-BE49-F238E27FC236}">
                  <a16:creationId xmlns:a16="http://schemas.microsoft.com/office/drawing/2014/main" id="{E186CB07-7E72-B7F8-57DA-218D511E1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7700" y="3390900"/>
              <a:ext cx="0" cy="180975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8" name="Line 65">
              <a:extLst>
                <a:ext uri="{FF2B5EF4-FFF2-40B4-BE49-F238E27FC236}">
                  <a16:creationId xmlns:a16="http://schemas.microsoft.com/office/drawing/2014/main" id="{8852F253-E38B-1949-0494-BF65C2D357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3900" y="3390900"/>
              <a:ext cx="0" cy="180975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9" name="Line 66">
              <a:extLst>
                <a:ext uri="{FF2B5EF4-FFF2-40B4-BE49-F238E27FC236}">
                  <a16:creationId xmlns:a16="http://schemas.microsoft.com/office/drawing/2014/main" id="{4B7B2375-D9E1-67FA-F109-5CDECBDBBC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2763" y="3421063"/>
              <a:ext cx="285750" cy="0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30" name="Line 67">
              <a:extLst>
                <a:ext uri="{FF2B5EF4-FFF2-40B4-BE49-F238E27FC236}">
                  <a16:creationId xmlns:a16="http://schemas.microsoft.com/office/drawing/2014/main" id="{0C238EC1-C431-43BF-0481-008B29B27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2763" y="3481388"/>
              <a:ext cx="285750" cy="0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31" name="Line 68">
              <a:extLst>
                <a:ext uri="{FF2B5EF4-FFF2-40B4-BE49-F238E27FC236}">
                  <a16:creationId xmlns:a16="http://schemas.microsoft.com/office/drawing/2014/main" id="{88E4F8DC-626E-72EE-E4EA-1F033C6C1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2763" y="3541713"/>
              <a:ext cx="285750" cy="0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536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spc="100" baseline="0">
          <a:solidFill>
            <a:srgbClr val="002060"/>
          </a:solidFill>
          <a:latin typeface="Poppins SemiBold" panose="00000700000000000000" pitchFamily="50" charset="0"/>
          <a:ea typeface="+mj-ea"/>
          <a:cs typeface="Poppins SemiBold" panose="00000700000000000000" pitchFamily="5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31C41FC0-CBE9-DD4D-F3A4-1383E0ED43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77933" y="253885"/>
            <a:ext cx="2539051" cy="361759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A3497FC-1B22-C042-65D1-24D8B9ECB4E3}"/>
              </a:ext>
            </a:extLst>
          </p:cNvPr>
          <p:cNvSpPr txBox="1">
            <a:spLocks/>
          </p:cNvSpPr>
          <p:nvPr userDrawn="1"/>
        </p:nvSpPr>
        <p:spPr>
          <a:xfrm>
            <a:off x="10668000" y="6697130"/>
            <a:ext cx="2743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00" spc="100">
                <a:solidFill>
                  <a:schemeClr val="bg1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482470-6116-40FE-9371-56657BCA3991}" type="slidenum">
              <a:rPr lang="en-US"/>
              <a:pPr/>
              <a:t>‹#›</a:t>
            </a:fld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EE187B-B548-0BA5-5F15-D009EA96AA10}"/>
              </a:ext>
            </a:extLst>
          </p:cNvPr>
          <p:cNvCxnSpPr>
            <a:cxnSpLocks/>
          </p:cNvCxnSpPr>
          <p:nvPr userDrawn="1"/>
        </p:nvCxnSpPr>
        <p:spPr>
          <a:xfrm>
            <a:off x="178101" y="800100"/>
            <a:ext cx="11835799" cy="0"/>
          </a:xfrm>
          <a:prstGeom prst="line">
            <a:avLst/>
          </a:prstGeom>
          <a:ln>
            <a:solidFill>
              <a:srgbClr val="F17351"/>
            </a:solidFill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D67CAA1-6DE7-5FE4-7C13-4846BABDB66C}"/>
              </a:ext>
            </a:extLst>
          </p:cNvPr>
          <p:cNvSpPr/>
          <p:nvPr userDrawn="1"/>
        </p:nvSpPr>
        <p:spPr>
          <a:xfrm>
            <a:off x="178101" y="6750181"/>
            <a:ext cx="3703320" cy="4647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FEB5A9-ED74-FEC1-CA2F-EDE599B4086D}"/>
              </a:ext>
            </a:extLst>
          </p:cNvPr>
          <p:cNvSpPr/>
          <p:nvPr userDrawn="1"/>
        </p:nvSpPr>
        <p:spPr>
          <a:xfrm>
            <a:off x="7773714" y="6748440"/>
            <a:ext cx="3703320" cy="48213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AEDDBF-B1BD-B13C-AB3D-1762C38FC4AF}"/>
              </a:ext>
            </a:extLst>
          </p:cNvPr>
          <p:cNvSpPr/>
          <p:nvPr userDrawn="1"/>
        </p:nvSpPr>
        <p:spPr>
          <a:xfrm>
            <a:off x="3973397" y="6747377"/>
            <a:ext cx="3703320" cy="45719"/>
          </a:xfrm>
          <a:prstGeom prst="rect">
            <a:avLst/>
          </a:prstGeom>
          <a:solidFill>
            <a:srgbClr val="E36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79128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300" spc="100" baseline="0">
          <a:solidFill>
            <a:srgbClr val="002060"/>
          </a:solidFill>
          <a:latin typeface="Poppins SemiBold" panose="00000700000000000000" pitchFamily="50" charset="0"/>
          <a:ea typeface="+mj-ea"/>
          <a:cs typeface="Poppins SemiBold" panose="00000700000000000000" pitchFamily="5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A3497FC-1B22-C042-65D1-24D8B9ECB4E3}"/>
              </a:ext>
            </a:extLst>
          </p:cNvPr>
          <p:cNvSpPr txBox="1">
            <a:spLocks/>
          </p:cNvSpPr>
          <p:nvPr userDrawn="1"/>
        </p:nvSpPr>
        <p:spPr>
          <a:xfrm>
            <a:off x="10668000" y="6697130"/>
            <a:ext cx="2743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00" spc="100">
                <a:solidFill>
                  <a:schemeClr val="bg1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482470-6116-40FE-9371-56657BCA3991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8A305B51-AAB3-73F8-39BA-18C5A05CC3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378" y="473055"/>
            <a:ext cx="7143445" cy="484026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6838571-68BB-E6B5-4CE6-E74A56B5AD7E}"/>
              </a:ext>
            </a:extLst>
          </p:cNvPr>
          <p:cNvSpPr>
            <a:spLocks noChangeAspect="1"/>
          </p:cNvSpPr>
          <p:nvPr userDrawn="1"/>
        </p:nvSpPr>
        <p:spPr>
          <a:xfrm>
            <a:off x="152401" y="190500"/>
            <a:ext cx="3978140" cy="6477000"/>
          </a:xfrm>
          <a:prstGeom prst="rect">
            <a:avLst/>
          </a:prstGeom>
          <a:gradFill>
            <a:gsLst>
              <a:gs pos="100000">
                <a:srgbClr val="2877C7"/>
              </a:gs>
              <a:gs pos="68000">
                <a:srgbClr val="004F99"/>
              </a:gs>
              <a:gs pos="5000">
                <a:srgbClr val="002060"/>
              </a:gs>
            </a:gsLst>
            <a:lin ang="2400000" scaled="0"/>
          </a:gra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4FAADDE3-FCE4-0013-184D-510C0DF933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1" y="3870781"/>
            <a:ext cx="4033784" cy="2733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6A4D716-8ECF-BD26-1E69-FF1CB1E566F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1294" y="2377976"/>
            <a:ext cx="755101" cy="75510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75A4D52-01B2-8160-177C-47D50880440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8910" y="4234047"/>
            <a:ext cx="2197206" cy="219720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14F501-7B56-1C08-0F53-141D7E67E1CB}"/>
              </a:ext>
            </a:extLst>
          </p:cNvPr>
          <p:cNvCxnSpPr>
            <a:cxnSpLocks/>
          </p:cNvCxnSpPr>
          <p:nvPr userDrawn="1"/>
        </p:nvCxnSpPr>
        <p:spPr>
          <a:xfrm>
            <a:off x="4956486" y="4279610"/>
            <a:ext cx="3666814" cy="0"/>
          </a:xfrm>
          <a:prstGeom prst="line">
            <a:avLst/>
          </a:prstGeom>
          <a:ln>
            <a:solidFill>
              <a:srgbClr val="4653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AFDF22-D787-51B8-4CA1-FCA47D6C1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275" y="3484476"/>
            <a:ext cx="6600759" cy="587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445E8B-F055-14F8-8C5D-671641CDFA52}"/>
              </a:ext>
            </a:extLst>
          </p:cNvPr>
          <p:cNvSpPr/>
          <p:nvPr userDrawn="1"/>
        </p:nvSpPr>
        <p:spPr>
          <a:xfrm>
            <a:off x="178101" y="6750181"/>
            <a:ext cx="3703320" cy="4647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8AE7DC-550C-9814-68EF-A6476A3114C2}"/>
              </a:ext>
            </a:extLst>
          </p:cNvPr>
          <p:cNvSpPr/>
          <p:nvPr userDrawn="1"/>
        </p:nvSpPr>
        <p:spPr>
          <a:xfrm>
            <a:off x="7773714" y="6748440"/>
            <a:ext cx="3703320" cy="48213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755C1C-2881-657A-5E94-7DF1515C1CBF}"/>
              </a:ext>
            </a:extLst>
          </p:cNvPr>
          <p:cNvSpPr/>
          <p:nvPr userDrawn="1"/>
        </p:nvSpPr>
        <p:spPr>
          <a:xfrm>
            <a:off x="3973397" y="6747377"/>
            <a:ext cx="3703320" cy="45719"/>
          </a:xfrm>
          <a:prstGeom prst="rect">
            <a:avLst/>
          </a:prstGeom>
          <a:solidFill>
            <a:srgbClr val="E36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93EC20B-5677-00E3-9E1F-EBB9AA181AD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77933" y="253885"/>
            <a:ext cx="2539051" cy="36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4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800" kern="1200" spc="100" baseline="0">
          <a:solidFill>
            <a:srgbClr val="002060"/>
          </a:solidFill>
          <a:latin typeface="Poppins SemiBold" panose="00000700000000000000" pitchFamily="50" charset="0"/>
          <a:ea typeface="+mj-ea"/>
          <a:cs typeface="Poppins SemiBold" panose="00000700000000000000" pitchFamily="5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51DA4-77A1-419F-9FB3-B6E0A4471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019F6-2DB4-4B16-81E8-F42854157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E1A90C1-9781-3D9F-C8B4-9E1D7E409AAF}"/>
              </a:ext>
            </a:extLst>
          </p:cNvPr>
          <p:cNvSpPr txBox="1">
            <a:spLocks/>
          </p:cNvSpPr>
          <p:nvPr userDrawn="1"/>
        </p:nvSpPr>
        <p:spPr>
          <a:xfrm>
            <a:off x="10668000" y="6697130"/>
            <a:ext cx="2743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00" spc="100">
                <a:solidFill>
                  <a:schemeClr val="bg1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482470-6116-40FE-9371-56657BCA39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64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65000"/>
              <a:lumOff val="35000"/>
            </a:schemeClr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E4A116DB-5A1A-F834-ABBB-356A8476DA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9" r="7799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97AF2CB-A5D7-DFC8-4DD8-03BB2DB8B6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6330">
                <a:schemeClr val="bg1">
                  <a:alpha val="0"/>
                </a:schemeClr>
              </a:gs>
              <a:gs pos="50000">
                <a:srgbClr val="FFFFFF">
                  <a:alpha val="79000"/>
                </a:srgbClr>
              </a:gs>
              <a:gs pos="30000">
                <a:schemeClr val="bg1"/>
              </a:gs>
              <a:gs pos="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33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00" spc="100" baseline="0">
          <a:solidFill>
            <a:schemeClr val="bg1"/>
          </a:solidFill>
          <a:latin typeface="Poppins SemiBold" panose="00000700000000000000" pitchFamily="50" charset="0"/>
          <a:ea typeface="+mj-ea"/>
          <a:cs typeface="Poppins SemiBold" panose="00000700000000000000" pitchFamily="50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00" spc="100" baseline="0">
          <a:solidFill>
            <a:schemeClr val="bg1"/>
          </a:solidFill>
          <a:latin typeface="Poppins" panose="00000500000000000000" pitchFamily="50" charset="0"/>
          <a:ea typeface="+mn-ea"/>
          <a:cs typeface="Poppins" panose="00000500000000000000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9EB68EA-6E1E-05B1-C92D-433E4314C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358684"/>
              </p:ext>
            </p:extLst>
          </p:nvPr>
        </p:nvGraphicFramePr>
        <p:xfrm>
          <a:off x="827214" y="3646714"/>
          <a:ext cx="7261709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1190">
                  <a:extLst>
                    <a:ext uri="{9D8B030D-6E8A-4147-A177-3AD203B41FA5}">
                      <a16:colId xmlns:a16="http://schemas.microsoft.com/office/drawing/2014/main" val="1202138347"/>
                    </a:ext>
                  </a:extLst>
                </a:gridCol>
                <a:gridCol w="219839">
                  <a:extLst>
                    <a:ext uri="{9D8B030D-6E8A-4147-A177-3AD203B41FA5}">
                      <a16:colId xmlns:a16="http://schemas.microsoft.com/office/drawing/2014/main" val="686563527"/>
                    </a:ext>
                  </a:extLst>
                </a:gridCol>
                <a:gridCol w="3930680">
                  <a:extLst>
                    <a:ext uri="{9D8B030D-6E8A-4147-A177-3AD203B41FA5}">
                      <a16:colId xmlns:a16="http://schemas.microsoft.com/office/drawing/2014/main" val="39757244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Review Slides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Hand-over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Delivery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855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Prospect / Customer 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Client Name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833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Opportunity Id 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13005936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583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Opportunity Description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Project Name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852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Document Date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11th November 2024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349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604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oogle Shape;235;p31">
            <a:extLst>
              <a:ext uri="{FF2B5EF4-FFF2-40B4-BE49-F238E27FC236}">
                <a16:creationId xmlns:a16="http://schemas.microsoft.com/office/drawing/2014/main" id="{EACE9A70-5FF6-F630-0868-2FEC4E80C5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8125568"/>
              </p:ext>
            </p:extLst>
          </p:nvPr>
        </p:nvGraphicFramePr>
        <p:xfrm>
          <a:off x="4397519" y="1274607"/>
          <a:ext cx="7118481" cy="307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4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49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+mj-lt"/>
                        <a:buNone/>
                      </a:pPr>
                      <a:r>
                        <a:rPr lang="en-US" sz="1200" u="none" kern="100" spc="100" baseline="0" dirty="0">
                          <a:solidFill>
                            <a:schemeClr val="lt1"/>
                          </a:solidFill>
                          <a:latin typeface="Poppins SemiBold"/>
                          <a:ea typeface="Anton"/>
                          <a:cs typeface="Poppins SemiBold"/>
                          <a:sym typeface="Anton"/>
                        </a:rPr>
                        <a:t>1</a:t>
                      </a:r>
                      <a:endParaRPr sz="1200" u="none" kern="100" spc="100" baseline="0" dirty="0">
                        <a:solidFill>
                          <a:schemeClr val="lt1"/>
                        </a:solidFill>
                        <a:latin typeface="Poppins SemiBold"/>
                        <a:ea typeface="Anton"/>
                        <a:cs typeface="Poppins SemiBold"/>
                        <a:sym typeface="Anton"/>
                      </a:endParaRP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2000" i="0" strike="noStrike" kern="100" cap="none" spc="100" baseline="0" dirty="0">
                          <a:solidFill>
                            <a:schemeClr val="dk1"/>
                          </a:solidFill>
                          <a:latin typeface="Poppins"/>
                          <a:ea typeface="Lexend Medium"/>
                          <a:cs typeface="Poppins"/>
                          <a:sym typeface="Lexend Medium"/>
                        </a:rPr>
                        <a:t>Proposal</a:t>
                      </a:r>
                      <a:r>
                        <a:rPr lang="en-IN" sz="2000" i="0" strike="noStrike" kern="100" cap="none" spc="100" baseline="0" dirty="0">
                          <a:solidFill>
                            <a:schemeClr val="dk1"/>
                          </a:solidFill>
                          <a:latin typeface="Poppins"/>
                          <a:ea typeface="Lexend Medium"/>
                          <a:cs typeface="Poppins"/>
                          <a:sym typeface="Lexend Medium"/>
                        </a:rPr>
                        <a:t> Overview</a:t>
                      </a:r>
                      <a:endParaRPr sz="2000" i="0" strike="noStrike" kern="100" cap="none" spc="100" baseline="0" dirty="0">
                        <a:solidFill>
                          <a:schemeClr val="dk1"/>
                        </a:solidFill>
                        <a:latin typeface="Poppins"/>
                        <a:ea typeface="Lexend Medium"/>
                        <a:cs typeface="Poppins"/>
                        <a:sym typeface="Lexend Medium"/>
                      </a:endParaRP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915193"/>
                  </a:ext>
                </a:extLst>
              </a:tr>
              <a:tr h="6149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+mj-lt"/>
                        <a:buNone/>
                      </a:pPr>
                      <a:r>
                        <a:rPr lang="en-US" sz="1200" u="none" kern="100" spc="100" baseline="0" dirty="0">
                          <a:solidFill>
                            <a:schemeClr val="lt1"/>
                          </a:solidFill>
                          <a:latin typeface="Poppins SemiBold"/>
                          <a:ea typeface="Anton"/>
                          <a:cs typeface="Poppins SemiBold"/>
                          <a:sym typeface="Anton"/>
                        </a:rPr>
                        <a:t>2</a:t>
                      </a:r>
                      <a:endParaRPr sz="1200" u="none" kern="100" spc="100" baseline="0" dirty="0">
                        <a:solidFill>
                          <a:schemeClr val="lt1"/>
                        </a:solidFill>
                        <a:latin typeface="Poppins SemiBold"/>
                        <a:ea typeface="Anton"/>
                        <a:cs typeface="Poppins SemiBold"/>
                        <a:sym typeface="Anton"/>
                      </a:endParaRP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000" i="0" strike="noStrike" kern="100" cap="none" spc="100" baseline="0" dirty="0">
                          <a:solidFill>
                            <a:schemeClr val="dk1"/>
                          </a:solidFill>
                          <a:latin typeface="Poppins"/>
                          <a:ea typeface="Lexend Medium"/>
                          <a:cs typeface="Poppins"/>
                          <a:sym typeface="Lexend Medium"/>
                        </a:rPr>
                        <a:t>Proposal Sign-off Status</a:t>
                      </a: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497474"/>
                  </a:ext>
                </a:extLst>
              </a:tr>
              <a:tr h="6149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+mj-lt"/>
                        <a:buNone/>
                      </a:pPr>
                      <a:r>
                        <a:rPr lang="en-US" sz="1200" u="none" kern="100" spc="100" baseline="0" dirty="0">
                          <a:solidFill>
                            <a:schemeClr val="lt1"/>
                          </a:solidFill>
                          <a:latin typeface="Poppins SemiBold"/>
                          <a:ea typeface="Anton"/>
                          <a:cs typeface="Poppins SemiBold"/>
                          <a:sym typeface="Anton"/>
                        </a:rPr>
                        <a:t>3</a:t>
                      </a:r>
                      <a:endParaRPr sz="1200" u="none" kern="100" spc="100" baseline="0" dirty="0">
                        <a:solidFill>
                          <a:schemeClr val="lt1"/>
                        </a:solidFill>
                        <a:latin typeface="Poppins SemiBold"/>
                        <a:ea typeface="Anton"/>
                        <a:cs typeface="Poppins SemiBold"/>
                        <a:sym typeface="Anton"/>
                      </a:endParaRP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Project scope, Timeline &amp; Milestones</a:t>
                      </a:r>
                      <a:endParaRPr lang="it-IT" sz="2000" i="0" strike="noStrike" kern="100" cap="none" spc="100" baseline="0" dirty="0">
                        <a:solidFill>
                          <a:schemeClr val="dk1"/>
                        </a:solidFill>
                        <a:latin typeface="Poppins"/>
                        <a:ea typeface="Lexend Medium"/>
                        <a:cs typeface="Poppins"/>
                        <a:sym typeface="Lexend Medium"/>
                      </a:endParaRP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041704"/>
                  </a:ext>
                </a:extLst>
              </a:tr>
              <a:tr h="6149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+mj-lt"/>
                        <a:buNone/>
                      </a:pPr>
                      <a:r>
                        <a:rPr lang="en-US" sz="1200" u="none" kern="100" spc="100" baseline="0" dirty="0">
                          <a:solidFill>
                            <a:schemeClr val="lt1"/>
                          </a:solidFill>
                          <a:latin typeface="Poppins SemiBold"/>
                          <a:ea typeface="Anton"/>
                          <a:cs typeface="Poppins SemiBold"/>
                          <a:sym typeface="Anton"/>
                        </a:rPr>
                        <a:t>4</a:t>
                      </a:r>
                      <a:endParaRPr sz="1200" u="none" kern="100" spc="100" baseline="0" dirty="0">
                        <a:solidFill>
                          <a:schemeClr val="lt1"/>
                        </a:solidFill>
                        <a:latin typeface="Poppins SemiBold"/>
                        <a:ea typeface="Anton"/>
                        <a:cs typeface="Poppins SemiBold"/>
                        <a:sym typeface="Anton"/>
                      </a:endParaRP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Top 5 - Risks, Assumptions, Issues &amp; Dependencies</a:t>
                      </a:r>
                      <a:endParaRPr lang="it-IT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Lexend Medium"/>
                      </a:endParaRP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867824"/>
                  </a:ext>
                </a:extLst>
              </a:tr>
              <a:tr h="6149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+mj-lt"/>
                        <a:buNone/>
                      </a:pPr>
                      <a:r>
                        <a:rPr lang="en-US" sz="1200" u="none" kern="100" spc="100" baseline="0" dirty="0">
                          <a:solidFill>
                            <a:schemeClr val="lt1"/>
                          </a:solidFill>
                          <a:latin typeface="Poppins SemiBold"/>
                          <a:ea typeface="Anton"/>
                          <a:cs typeface="Poppins SemiBold"/>
                          <a:sym typeface="Anton"/>
                        </a:rPr>
                        <a:t>5</a:t>
                      </a:r>
                      <a:endParaRPr sz="1200" u="none" kern="100" spc="100" baseline="0" dirty="0">
                        <a:solidFill>
                          <a:schemeClr val="lt1"/>
                        </a:solidFill>
                        <a:latin typeface="Poppins SemiBold"/>
                        <a:ea typeface="Anton"/>
                        <a:cs typeface="Poppins SemiBold"/>
                        <a:sym typeface="Anton"/>
                      </a:endParaRP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2000" dirty="0"/>
                        <a:t>Hand-Over Status Proposal to Delivery Team</a:t>
                      </a:r>
                      <a:endParaRPr sz="2000" i="0" strike="noStrike" kern="100" cap="none" spc="100" baseline="0" dirty="0">
                        <a:solidFill>
                          <a:schemeClr val="dk1"/>
                        </a:solidFill>
                        <a:latin typeface="Poppins"/>
                        <a:ea typeface="Lexend Medium"/>
                        <a:cs typeface="Poppins"/>
                        <a:sym typeface="Lexend Medium"/>
                      </a:endParaRP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31448"/>
                  </a:ext>
                </a:extLst>
              </a:tr>
            </a:tbl>
          </a:graphicData>
        </a:graphic>
      </p:graphicFrame>
      <p:sp>
        <p:nvSpPr>
          <p:cNvPr id="6" name="Title 2">
            <a:extLst>
              <a:ext uri="{FF2B5EF4-FFF2-40B4-BE49-F238E27FC236}">
                <a16:creationId xmlns:a16="http://schemas.microsoft.com/office/drawing/2014/main" id="{EBEF1691-A42E-19CD-4B4C-007688576B19}"/>
              </a:ext>
            </a:extLst>
          </p:cNvPr>
          <p:cNvSpPr txBox="1">
            <a:spLocks/>
          </p:cNvSpPr>
          <p:nvPr/>
        </p:nvSpPr>
        <p:spPr>
          <a:xfrm>
            <a:off x="258754" y="234360"/>
            <a:ext cx="9125255" cy="3972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300" spc="100" baseline="0">
                <a:solidFill>
                  <a:srgbClr val="002060"/>
                </a:solidFill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300" cap="none" spc="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rPr>
              <a:t>Agenda</a:t>
            </a:r>
            <a:endParaRPr kumimoji="0" lang="en-US" sz="2200" b="0" i="0" u="none" strike="noStrike" kern="1300" cap="none" spc="100" normalizeH="0" baseline="0" noProof="0" dirty="0">
              <a:ln>
                <a:noFill/>
              </a:ln>
              <a:solidFill>
                <a:srgbClr val="ED5920"/>
              </a:solidFill>
              <a:effectLst/>
              <a:uLnTx/>
              <a:uFillTx/>
              <a:latin typeface="Poppins SemiBold" panose="00000700000000000000" pitchFamily="50" charset="0"/>
              <a:ea typeface="+mj-ea"/>
              <a:cs typeface="Poppins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48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A2E04-8141-9C8B-A5C0-BF1839B84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Proposal Overview</a:t>
            </a:r>
          </a:p>
        </p:txBody>
      </p:sp>
    </p:spTree>
    <p:extLst>
      <p:ext uri="{BB962C8B-B14F-4D97-AF65-F5344CB8AC3E}">
        <p14:creationId xmlns:p14="http://schemas.microsoft.com/office/powerpoint/2010/main" val="336946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1DB198B-C0FF-5755-A1A1-94CB6ACB983B}"/>
              </a:ext>
            </a:extLst>
          </p:cNvPr>
          <p:cNvSpPr txBox="1">
            <a:spLocks/>
          </p:cNvSpPr>
          <p:nvPr/>
        </p:nvSpPr>
        <p:spPr>
          <a:xfrm>
            <a:off x="258754" y="234360"/>
            <a:ext cx="9125255" cy="3972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300" spc="100" baseline="0">
                <a:solidFill>
                  <a:srgbClr val="002060"/>
                </a:solidFill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300" cap="none" spc="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rPr>
              <a:t>Proposal Overview - One pager</a:t>
            </a:r>
            <a:endParaRPr kumimoji="0" lang="en-US" sz="2200" b="0" i="0" u="none" strike="noStrike" kern="1300" cap="none" spc="100" normalizeH="0" baseline="0" noProof="0" dirty="0">
              <a:ln>
                <a:noFill/>
              </a:ln>
              <a:solidFill>
                <a:srgbClr val="ED5920"/>
              </a:solidFill>
              <a:effectLst/>
              <a:uLnTx/>
              <a:uFillTx/>
              <a:latin typeface="Poppins SemiBold" panose="00000700000000000000" pitchFamily="50" charset="0"/>
              <a:ea typeface="+mj-ea"/>
              <a:cs typeface="Poppins SemiBold" panose="00000700000000000000" pitchFamily="50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AAFAD6-AA74-EC8A-775F-7FD01A76E267}"/>
              </a:ext>
            </a:extLst>
          </p:cNvPr>
          <p:cNvSpPr/>
          <p:nvPr/>
        </p:nvSpPr>
        <p:spPr>
          <a:xfrm>
            <a:off x="173464" y="874073"/>
            <a:ext cx="1475117" cy="5831527"/>
          </a:xfrm>
          <a:prstGeom prst="rect">
            <a:avLst/>
          </a:prstGeom>
          <a:solidFill>
            <a:srgbClr val="E8E8E8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Proposal One Pager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Slide to be filled and presented in all Reviews leading to handover (or Win/Loss).</a:t>
            </a:r>
          </a:p>
          <a:p>
            <a:pPr marL="88900" marR="0" lvl="1" indent="-8890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Keep this slide updated for each review, highlighting new changes each time.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Right-Click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66A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on the table and use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“Object Worksheet / Open”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 provide the requested info in all cells.</a:t>
            </a:r>
          </a:p>
          <a:p>
            <a:pPr marL="88900" marR="0" lvl="1" indent="-8890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List of values and/or Online hints (helps) are available in the sheet itself.</a:t>
            </a:r>
          </a:p>
          <a:p>
            <a:pPr marL="88900" marR="0" lvl="1" indent="-8890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You  can also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Double-click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on the table and provide the requested info in all cells.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Most of the data must be completed with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Freshsales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Opportunity’s information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 not change format of this slide.</a:t>
            </a:r>
            <a:endParaRPr kumimoji="0" lang="en-IN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6BE6EAD-BF4B-A048-1694-7234A0D4F2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486145"/>
              </p:ext>
            </p:extLst>
          </p:nvPr>
        </p:nvGraphicFramePr>
        <p:xfrm>
          <a:off x="1683373" y="863347"/>
          <a:ext cx="10363152" cy="5836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816690" imgH="4273638" progId="Excel.Sheet.12">
                  <p:embed/>
                </p:oleObj>
              </mc:Choice>
              <mc:Fallback>
                <p:oleObj name="Worksheet" r:id="rId2" imgW="7816690" imgH="4273638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66BE6EAD-BF4B-A048-1694-7234A0D4F2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83373" y="863347"/>
                        <a:ext cx="10363152" cy="58365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2499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27643-2001-9B2B-F86E-25DA244D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B7DC-9389-D6AA-E867-F4E48E03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275" y="3484476"/>
            <a:ext cx="5004325" cy="587877"/>
          </a:xfrm>
        </p:spPr>
        <p:txBody>
          <a:bodyPr/>
          <a:lstStyle/>
          <a:p>
            <a:r>
              <a:rPr lang="en-IN" dirty="0"/>
              <a:t>Proposal Sign-off Status</a:t>
            </a:r>
          </a:p>
        </p:txBody>
      </p:sp>
    </p:spTree>
    <p:extLst>
      <p:ext uri="{BB962C8B-B14F-4D97-AF65-F5344CB8AC3E}">
        <p14:creationId xmlns:p14="http://schemas.microsoft.com/office/powerpoint/2010/main" val="1546103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79E9C6C-FC22-5377-39AE-42D8611CF1A2}"/>
              </a:ext>
            </a:extLst>
          </p:cNvPr>
          <p:cNvSpPr txBox="1">
            <a:spLocks/>
          </p:cNvSpPr>
          <p:nvPr/>
        </p:nvSpPr>
        <p:spPr>
          <a:xfrm>
            <a:off x="258754" y="234360"/>
            <a:ext cx="9125255" cy="3972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300" spc="100" baseline="0">
                <a:solidFill>
                  <a:srgbClr val="002060"/>
                </a:solidFill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300" cap="none" spc="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rPr>
              <a:t>Proposal Sign-Off Status</a:t>
            </a:r>
            <a:endParaRPr kumimoji="0" lang="en-US" sz="2200" b="0" i="0" u="none" strike="noStrike" kern="1300" cap="none" spc="100" normalizeH="0" baseline="0" noProof="0" dirty="0">
              <a:ln>
                <a:noFill/>
              </a:ln>
              <a:solidFill>
                <a:srgbClr val="ED5920"/>
              </a:solidFill>
              <a:effectLst/>
              <a:uLnTx/>
              <a:uFillTx/>
              <a:latin typeface="Poppins SemiBold" panose="00000700000000000000" pitchFamily="50" charset="0"/>
              <a:ea typeface="+mj-ea"/>
              <a:cs typeface="Poppins SemiBold" panose="00000700000000000000" pitchFamily="50" charset="0"/>
            </a:endParaRPr>
          </a:p>
        </p:txBody>
      </p:sp>
      <p:graphicFrame>
        <p:nvGraphicFramePr>
          <p:cNvPr id="3" name="Tableau 8">
            <a:extLst>
              <a:ext uri="{FF2B5EF4-FFF2-40B4-BE49-F238E27FC236}">
                <a16:creationId xmlns:a16="http://schemas.microsoft.com/office/drawing/2014/main" id="{42FD273A-1A39-B593-5A7C-EAB31EB91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009070"/>
              </p:ext>
            </p:extLst>
          </p:nvPr>
        </p:nvGraphicFramePr>
        <p:xfrm>
          <a:off x="1595717" y="837489"/>
          <a:ext cx="10461812" cy="576053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43418">
                  <a:extLst>
                    <a:ext uri="{9D8B030D-6E8A-4147-A177-3AD203B41FA5}">
                      <a16:colId xmlns:a16="http://schemas.microsoft.com/office/drawing/2014/main" val="176570377"/>
                    </a:ext>
                  </a:extLst>
                </a:gridCol>
                <a:gridCol w="714990">
                  <a:extLst>
                    <a:ext uri="{9D8B030D-6E8A-4147-A177-3AD203B41FA5}">
                      <a16:colId xmlns:a16="http://schemas.microsoft.com/office/drawing/2014/main" val="3419957922"/>
                    </a:ext>
                  </a:extLst>
                </a:gridCol>
                <a:gridCol w="2135833">
                  <a:extLst>
                    <a:ext uri="{9D8B030D-6E8A-4147-A177-3AD203B41FA5}">
                      <a16:colId xmlns:a16="http://schemas.microsoft.com/office/drawing/2014/main" val="1859461163"/>
                    </a:ext>
                  </a:extLst>
                </a:gridCol>
                <a:gridCol w="2370897">
                  <a:extLst>
                    <a:ext uri="{9D8B030D-6E8A-4147-A177-3AD203B41FA5}">
                      <a16:colId xmlns:a16="http://schemas.microsoft.com/office/drawing/2014/main" val="3450479338"/>
                    </a:ext>
                  </a:extLst>
                </a:gridCol>
                <a:gridCol w="2542238">
                  <a:extLst>
                    <a:ext uri="{9D8B030D-6E8A-4147-A177-3AD203B41FA5}">
                      <a16:colId xmlns:a16="http://schemas.microsoft.com/office/drawing/2014/main" val="190825228"/>
                    </a:ext>
                  </a:extLst>
                </a:gridCol>
                <a:gridCol w="1354436">
                  <a:extLst>
                    <a:ext uri="{9D8B030D-6E8A-4147-A177-3AD203B41FA5}">
                      <a16:colId xmlns:a16="http://schemas.microsoft.com/office/drawing/2014/main" val="383431752"/>
                    </a:ext>
                  </a:extLst>
                </a:gridCol>
              </a:tblGrid>
              <a:tr h="131677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0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GB" sz="10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RAG</a:t>
                      </a:r>
                    </a:p>
                  </a:txBody>
                  <a:tcPr marL="36000" marR="36000" marT="36000" marB="36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GB" sz="10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Date &amp; Approver Name</a:t>
                      </a:r>
                    </a:p>
                  </a:txBody>
                  <a:tcPr marL="36000" marR="36000" marT="36000" marB="36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GB" sz="10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Role</a:t>
                      </a:r>
                    </a:p>
                  </a:txBody>
                  <a:tcPr marL="36000" marR="36000" marT="36000" marB="36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GB" sz="10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Decision</a:t>
                      </a:r>
                    </a:p>
                  </a:txBody>
                  <a:tcPr marL="36000" marR="36000" marT="36000" marB="36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000" b="1" kern="1200" noProof="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Attach Artefacts</a:t>
                      </a:r>
                    </a:p>
                  </a:txBody>
                  <a:tcPr marL="36000" marR="36000" marT="36000" marB="36000" anchor="ctr" horzOverflow="overflow"/>
                </a:tc>
                <a:extLst>
                  <a:ext uri="{0D108BD9-81ED-4DB2-BD59-A6C34878D82A}">
                    <a16:rowId xmlns:a16="http://schemas.microsoft.com/office/drawing/2014/main" val="1842399291"/>
                  </a:ext>
                </a:extLst>
              </a:tr>
              <a:tr h="148629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Delivery</a:t>
                      </a:r>
                    </a:p>
                  </a:txBody>
                  <a:tcPr marL="36000" marR="36000" marT="36000" marB="36000" anchor="ctr" horzOverflow="overflow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Verdana"/>
                        </a:rPr>
                        <a:t>R</a:t>
                      </a:r>
                      <a:endParaRPr lang="en-US" sz="1000" b="0" kern="1200" noProof="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DD-MM-YYYY – [Name]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[Role]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Scope:-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Solutions:-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Timeline:-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Budget:-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Margin:-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Risk:-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Verdana"/>
                        </a:rPr>
                        <a:t>[</a:t>
                      </a: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  <a:sym typeface="Verdana"/>
                        </a:rPr>
                        <a:t>Artefact]</a:t>
                      </a:r>
                      <a:endParaRPr lang="en-US" sz="1000" b="0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656933773"/>
                  </a:ext>
                </a:extLst>
              </a:tr>
              <a:tr h="14787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Finance/Contract</a:t>
                      </a:r>
                    </a:p>
                  </a:txBody>
                  <a:tcPr marL="36000" marR="36000" marT="36000" marB="36000" anchor="ctr" horzOverflow="overflow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DD-MM-YYYY – [Name]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[Role]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Commercial : - 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Margin :- 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Cash Flow:-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Contractual Terms:-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  <a:sym typeface="Verdana"/>
                        </a:rPr>
                        <a:t>[Artefact]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287760896"/>
                  </a:ext>
                </a:extLst>
              </a:tr>
              <a:tr h="14787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Practice/</a:t>
                      </a:r>
                      <a:r>
                        <a:rPr kumimoji="0" lang="en-US" sz="1000" b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CoE</a:t>
                      </a:r>
                      <a:endParaRPr kumimoji="0" lang="en-US" sz="1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 horzOverflow="overflow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endParaRPr lang="en-US" sz="1000" b="0" kern="1200" noProof="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DD-MM-YYYY – [Name]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[Role]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Technical Solution: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Skills:-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Accelalters</a:t>
                      </a: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:-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  <a:sym typeface="Verdana"/>
                        </a:rPr>
                        <a:t>[Artefact]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7881507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BC1AA60-AE29-8918-C6C1-9DD499834EB7}"/>
              </a:ext>
            </a:extLst>
          </p:cNvPr>
          <p:cNvSpPr/>
          <p:nvPr/>
        </p:nvSpPr>
        <p:spPr>
          <a:xfrm>
            <a:off x="206188" y="842682"/>
            <a:ext cx="1362636" cy="5782236"/>
          </a:xfrm>
          <a:prstGeom prst="rect">
            <a:avLst/>
          </a:prstGeom>
          <a:solidFill>
            <a:schemeClr val="bg1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lang="en-US" sz="1000" b="1" kern="1200" dirty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Proposal Sign-off </a:t>
            </a:r>
          </a:p>
          <a:p>
            <a:pPr>
              <a:defRPr/>
            </a:pPr>
            <a:r>
              <a:rPr lang="en-US" sz="1000" b="1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Slide to be filled and presented in Handover Review.</a:t>
            </a: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1000" b="0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Keep this slide updated for each review, highlighting new changes each time.</a:t>
            </a:r>
          </a:p>
          <a:p>
            <a:pPr>
              <a:spcBef>
                <a:spcPts val="100"/>
              </a:spcBef>
            </a:pPr>
            <a:endParaRPr lang="en-US" sz="10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1000" b="1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Report the status of the sign-off, attaching all relevant artefacts.</a:t>
            </a: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1000" b="0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Sign-off status to be confirmed in 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Verdana"/>
              </a:rPr>
              <a:t>all reviews</a:t>
            </a:r>
            <a:r>
              <a:rPr lang="en-US" sz="1000" b="0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.</a:t>
            </a: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1000" b="0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Sign-off for Delivery Commitment (</a:t>
            </a:r>
            <a:r>
              <a:rPr lang="en-US" sz="1000" b="1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Green is mandatory</a:t>
            </a:r>
            <a:r>
              <a:rPr lang="en-US" sz="1000" b="0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), Finance, Legal and Risk are mandatory. Other only when applicable.</a:t>
            </a: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1000" b="0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Sign-off comments and clear decision request are mandatory if the RAG is either Amber or RED</a:t>
            </a: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b="0" i="0" kern="1200" dirty="0">
              <a:solidFill>
                <a:srgbClr val="000000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0" marR="0" lvl="1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b="0" i="0" kern="1200" dirty="0">
              <a:solidFill>
                <a:srgbClr val="000000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sym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600" b="1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Do not change format of this slide.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600" b="1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Duplicate slide if needed.</a:t>
            </a:r>
            <a:endParaRPr lang="en-US" sz="600" b="0" i="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b="0" i="0" kern="1200" dirty="0">
              <a:solidFill>
                <a:srgbClr val="000000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b="0" i="0" kern="1200" dirty="0">
              <a:solidFill>
                <a:srgbClr val="000000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1137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A2E04-8141-9C8B-A5C0-BF1839B8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275" y="3484476"/>
            <a:ext cx="6299725" cy="587877"/>
          </a:xfrm>
        </p:spPr>
        <p:txBody>
          <a:bodyPr/>
          <a:lstStyle/>
          <a:p>
            <a:r>
              <a:rPr lang="en-IN" dirty="0"/>
              <a:t>Project scope, Timeline &amp; Milestones</a:t>
            </a:r>
          </a:p>
        </p:txBody>
      </p:sp>
    </p:spTree>
    <p:extLst>
      <p:ext uri="{BB962C8B-B14F-4D97-AF65-F5344CB8AC3E}">
        <p14:creationId xmlns:p14="http://schemas.microsoft.com/office/powerpoint/2010/main" val="266152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4A384-3879-2515-C029-2FB47BAF1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72AAEAA5-82C4-B58D-B3CC-C78D29EDC1C9}"/>
              </a:ext>
            </a:extLst>
          </p:cNvPr>
          <p:cNvSpPr txBox="1">
            <a:spLocks/>
          </p:cNvSpPr>
          <p:nvPr/>
        </p:nvSpPr>
        <p:spPr>
          <a:xfrm>
            <a:off x="258754" y="234360"/>
            <a:ext cx="9125255" cy="3972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300" spc="100" baseline="0">
                <a:solidFill>
                  <a:srgbClr val="002060"/>
                </a:solidFill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300" cap="none" spc="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rPr>
              <a:t>Project Scope</a:t>
            </a:r>
            <a:endParaRPr kumimoji="0" lang="en-US" sz="2200" b="0" i="0" u="none" strike="noStrike" kern="1300" cap="none" spc="100" normalizeH="0" baseline="0" noProof="0" dirty="0">
              <a:ln>
                <a:noFill/>
              </a:ln>
              <a:solidFill>
                <a:srgbClr val="ED5920"/>
              </a:solidFill>
              <a:effectLst/>
              <a:uLnTx/>
              <a:uFillTx/>
              <a:latin typeface="Poppins SemiBold" panose="00000700000000000000" pitchFamily="50" charset="0"/>
              <a:ea typeface="+mj-ea"/>
              <a:cs typeface="Poppins SemiBold" panose="00000700000000000000" pitchFamily="50" charset="0"/>
            </a:endParaRPr>
          </a:p>
        </p:txBody>
      </p:sp>
      <p:sp>
        <p:nvSpPr>
          <p:cNvPr id="3" name="Rounded Rectangle 101">
            <a:extLst>
              <a:ext uri="{FF2B5EF4-FFF2-40B4-BE49-F238E27FC236}">
                <a16:creationId xmlns:a16="http://schemas.microsoft.com/office/drawing/2014/main" id="{8A372003-FA24-4F57-7FC0-A6FCF35FC910}"/>
              </a:ext>
            </a:extLst>
          </p:cNvPr>
          <p:cNvSpPr/>
          <p:nvPr/>
        </p:nvSpPr>
        <p:spPr>
          <a:xfrm>
            <a:off x="178400" y="2518198"/>
            <a:ext cx="5790599" cy="207944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endParaRPr kumimoji="0" lang="en-US" sz="12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endParaRPr lang="en-US" sz="1200" spc="100" dirty="0">
              <a:solidFill>
                <a:prstClr val="black"/>
              </a:solidFill>
              <a:latin typeface="Poppins"/>
              <a:cs typeface="Arial"/>
              <a:sym typeface="Arial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r>
              <a:rPr kumimoji="0" lang="en-US" sz="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The aim is to Develop a Generative solution to assist </a:t>
            </a:r>
            <a:r>
              <a:rPr kumimoji="0" lang="en-US" sz="800" b="0" i="0" u="none" strike="noStrike" kern="1200" cap="none" spc="1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Nuvama</a:t>
            </a:r>
            <a:r>
              <a:rPr kumimoji="0" lang="en-US" sz="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Private's Relationship Managers for HNI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endParaRPr lang="en-US" sz="800" kern="1200" spc="100" dirty="0">
              <a:solidFill>
                <a:prstClr val="black"/>
              </a:solidFill>
              <a:latin typeface="Poppins"/>
              <a:cs typeface="Arial"/>
            </a:endParaRPr>
          </a:p>
          <a:p>
            <a:pPr marL="285750" indent="-285750" algn="just">
              <a:buClrTx/>
              <a:buBlip>
                <a:blip r:embed="rId2"/>
              </a:buBlip>
              <a:tabLst>
                <a:tab pos="2333625" algn="l"/>
              </a:tabLst>
              <a:defRPr/>
            </a:pPr>
            <a:r>
              <a:rPr kumimoji="0" lang="en-US" sz="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The primary objective is enhancing productivity by reducing time spent searching for information and accelerating time to insights</a:t>
            </a:r>
          </a:p>
          <a:p>
            <a:pPr algn="just">
              <a:buClrTx/>
              <a:tabLst>
                <a:tab pos="2333625" algn="l"/>
              </a:tabLst>
              <a:defRPr/>
            </a:pPr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r>
              <a:rPr kumimoji="0" lang="en-US" sz="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The Gen AI solution will use natural language processing (NLP) to provide relevant and contextually accurate responses to user queries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2333625" algn="l"/>
              </a:tabLst>
              <a:defRPr/>
            </a:pPr>
            <a:endParaRPr lang="en-US" sz="800" kern="1200" spc="100" dirty="0">
              <a:solidFill>
                <a:prstClr val="black"/>
              </a:solidFill>
              <a:latin typeface="Poppins"/>
              <a:cs typeface="Arial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r>
              <a:rPr kumimoji="0" lang="en-US" sz="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The solution will be able to retrieve processed information from various data sources and formats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r>
              <a:rPr kumimoji="0" lang="en-US" sz="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The solution enable faster and more informed decision-making by delivering concise and precise answers to improve the productivity of Relationship Managers</a:t>
            </a:r>
            <a:endParaRPr lang="en-US" sz="800" kern="1200" spc="100" dirty="0">
              <a:solidFill>
                <a:prstClr val="black"/>
              </a:solidFill>
              <a:latin typeface="Poppins"/>
              <a:cs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endParaRPr lang="en-US" sz="1200" spc="100" dirty="0">
              <a:solidFill>
                <a:prstClr val="black"/>
              </a:solidFill>
              <a:latin typeface="Poppins"/>
              <a:cs typeface="Arial"/>
              <a:sym typeface="Arial"/>
            </a:endParaRPr>
          </a:p>
        </p:txBody>
      </p:sp>
      <p:sp>
        <p:nvSpPr>
          <p:cNvPr id="4" name="Chevron 8">
            <a:extLst>
              <a:ext uri="{FF2B5EF4-FFF2-40B4-BE49-F238E27FC236}">
                <a16:creationId xmlns:a16="http://schemas.microsoft.com/office/drawing/2014/main" id="{8C509031-0EE7-60D1-2BBA-F75930F004F9}"/>
              </a:ext>
            </a:extLst>
          </p:cNvPr>
          <p:cNvSpPr/>
          <p:nvPr/>
        </p:nvSpPr>
        <p:spPr>
          <a:xfrm>
            <a:off x="172762" y="2373042"/>
            <a:ext cx="1670366" cy="322925"/>
          </a:xfrm>
          <a:prstGeom prst="rect">
            <a:avLst/>
          </a:prstGeom>
          <a:solidFill>
            <a:schemeClr val="accent3"/>
          </a:solidFill>
          <a:ln w="2857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semibold"/>
                <a:ea typeface="+mn-ea"/>
                <a:cs typeface="+mn-cs"/>
                <a:sym typeface="Arial"/>
              </a:rPr>
              <a:t>Requirement</a:t>
            </a:r>
          </a:p>
        </p:txBody>
      </p:sp>
      <p:sp>
        <p:nvSpPr>
          <p:cNvPr id="5" name="Rounded Rectangle 101">
            <a:extLst>
              <a:ext uri="{FF2B5EF4-FFF2-40B4-BE49-F238E27FC236}">
                <a16:creationId xmlns:a16="http://schemas.microsoft.com/office/drawing/2014/main" id="{EBB0781C-C9B6-BE29-3D46-773FBA9FA309}"/>
              </a:ext>
            </a:extLst>
          </p:cNvPr>
          <p:cNvSpPr/>
          <p:nvPr/>
        </p:nvSpPr>
        <p:spPr>
          <a:xfrm>
            <a:off x="178401" y="922296"/>
            <a:ext cx="5803655" cy="14277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E26"/>
              </a:buClr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1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/>
                <a:ea typeface="+mn-ea"/>
                <a:cs typeface="Poppins"/>
                <a:sym typeface="Arial"/>
              </a:rPr>
              <a:t>Nuvama</a:t>
            </a:r>
            <a:r>
              <a:rPr kumimoji="0" lang="en-US" sz="800" b="0" i="0" u="none" strike="noStrike" kern="0" cap="none" spc="1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/>
                <a:ea typeface="+mn-ea"/>
                <a:cs typeface="Poppins"/>
                <a:sym typeface="Arial"/>
              </a:rPr>
              <a:t> Private plans to integrate </a:t>
            </a:r>
            <a:r>
              <a:rPr kumimoji="0" lang="en-US" sz="800" b="0" i="0" u="none" strike="noStrike" kern="0" cap="none" spc="1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/>
                <a:ea typeface="+mn-ea"/>
                <a:cs typeface="Poppins"/>
                <a:sym typeface="Arial"/>
              </a:rPr>
              <a:t>GenAI</a:t>
            </a:r>
            <a:r>
              <a:rPr kumimoji="0" lang="en-US" sz="800" b="0" i="0" u="none" strike="noStrike" kern="0" cap="none" spc="1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/>
                <a:ea typeface="+mn-ea"/>
                <a:cs typeface="Poppins"/>
                <a:sym typeface="Arial"/>
              </a:rPr>
              <a:t> capabilities into its platform for Relationship Managers, particularly those serving high-net-worth individuals (HNI), with the goal of enhancing customer experience, efficiency, and the productivity of the front-line teams</a:t>
            </a:r>
            <a:endParaRPr lang="en-US" sz="800" dirty="0">
              <a:solidFill>
                <a:prstClr val="black">
                  <a:lumMod val="85000"/>
                  <a:lumOff val="15000"/>
                </a:prstClr>
              </a:solidFill>
              <a:cs typeface="Poppin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E26"/>
              </a:buClr>
              <a:buSzTx/>
              <a:buFont typeface="Arial"/>
              <a:buNone/>
              <a:tabLst/>
              <a:defRPr/>
            </a:pPr>
            <a:endParaRPr lang="en-US" sz="800" b="0" i="0" u="none" strike="noStrike" kern="0" cap="none" spc="1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oppins"/>
              <a:cs typeface="Poppins" panose="000005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E26"/>
              </a:buClr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1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/>
                <a:ea typeface="+mn-ea"/>
                <a:cs typeface="Poppins"/>
                <a:sym typeface="Arial"/>
              </a:rPr>
              <a:t>Exponentia is proposing the Gen AI accelerator, </a:t>
            </a:r>
            <a:r>
              <a:rPr kumimoji="0" lang="en-US" sz="800" b="0" i="0" u="none" strike="noStrike" kern="0" cap="none" spc="1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/>
                <a:ea typeface="+mn-ea"/>
                <a:cs typeface="Poppins"/>
                <a:sym typeface="Arial"/>
              </a:rPr>
              <a:t>AIXponent</a:t>
            </a:r>
            <a:r>
              <a:rPr kumimoji="0" lang="en-US" sz="800" b="0" i="0" u="none" strike="noStrike" kern="0" cap="none" spc="1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/>
                <a:ea typeface="+mn-ea"/>
                <a:cs typeface="Poppins"/>
                <a:sym typeface="Arial"/>
              </a:rPr>
              <a:t>, to assist </a:t>
            </a:r>
            <a:r>
              <a:rPr kumimoji="0" lang="en-US" sz="800" b="0" i="0" u="none" strike="noStrike" kern="0" cap="none" spc="1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/>
                <a:ea typeface="+mn-ea"/>
                <a:cs typeface="Poppins"/>
                <a:sym typeface="Arial"/>
              </a:rPr>
              <a:t>Nuvama</a:t>
            </a:r>
            <a:r>
              <a:rPr kumimoji="0" lang="en-US" sz="800" b="0" i="0" u="none" strike="noStrike" kern="0" cap="none" spc="1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/>
                <a:ea typeface="+mn-ea"/>
                <a:cs typeface="Poppins"/>
                <a:sym typeface="Arial"/>
              </a:rPr>
              <a:t> Private in addressing both their current business challenges and setting up a platform </a:t>
            </a:r>
            <a:r>
              <a:rPr lang="en-US" sz="800" spc="100" dirty="0">
                <a:solidFill>
                  <a:prstClr val="black">
                    <a:lumMod val="85000"/>
                    <a:lumOff val="15000"/>
                  </a:prstClr>
                </a:solidFill>
                <a:latin typeface="Poppins"/>
                <a:cs typeface="Poppins"/>
              </a:rPr>
              <a:t>to address </a:t>
            </a:r>
            <a:r>
              <a:rPr kumimoji="0" lang="en-US" sz="800" b="0" i="0" u="none" strike="noStrike" kern="0" cap="none" spc="1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/>
                <a:ea typeface="+mn-ea"/>
                <a:cs typeface="Poppins"/>
                <a:sym typeface="Arial"/>
              </a:rPr>
              <a:t>future use cases –</a:t>
            </a:r>
            <a:br>
              <a:rPr lang="en-US" sz="800" b="0" i="0" u="none" strike="noStrike" kern="0" cap="none" spc="100" normalizeH="0" baseline="0" noProof="0" dirty="0">
                <a:ln>
                  <a:noFill/>
                </a:ln>
                <a:effectLst/>
                <a:uLnTx/>
                <a:uFillTx/>
                <a:latin typeface="Poppins"/>
                <a:cs typeface="Poppins" panose="00000500000000000000" pitchFamily="2" charset="0"/>
              </a:rPr>
            </a:br>
            <a:endParaRPr lang="en-US" sz="800" b="0" i="0" u="none" strike="noStrike" kern="0" cap="none" spc="1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oppins"/>
              <a:cs typeface="Poppins" panose="00000500000000000000" pitchFamily="2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E26"/>
              </a:buClr>
              <a:buSzTx/>
              <a:buFont typeface="Arial"/>
              <a:buAutoNum type="alphaLcPeriod"/>
              <a:tabLst/>
              <a:defRPr/>
            </a:pPr>
            <a:r>
              <a:rPr lang="en-US" sz="800" kern="0" spc="100" dirty="0">
                <a:solidFill>
                  <a:prstClr val="black">
                    <a:lumMod val="85000"/>
                    <a:lumOff val="15000"/>
                  </a:prstClr>
                </a:solidFill>
                <a:latin typeface="Poppins"/>
                <a:cs typeface="Poppins" panose="00000500000000000000" pitchFamily="2" charset="0"/>
                <a:sym typeface="Arial"/>
              </a:rPr>
              <a:t>Unstructured Data Analysis</a:t>
            </a:r>
            <a:endParaRPr lang="en-US" sz="800" kern="0" spc="100" dirty="0">
              <a:solidFill>
                <a:prstClr val="black">
                  <a:lumMod val="85000"/>
                  <a:lumOff val="15000"/>
                </a:prstClr>
              </a:solidFill>
              <a:latin typeface="Poppins"/>
              <a:cs typeface="Poppins" panose="00000500000000000000" pitchFamily="2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E26"/>
              </a:buClr>
              <a:buSzTx/>
              <a:buFont typeface="Arial"/>
              <a:buAutoNum type="alphaLcPeriod"/>
              <a:tabLst/>
              <a:defRPr/>
            </a:pPr>
            <a:r>
              <a:rPr lang="en-US" sz="800" spc="100" dirty="0">
                <a:solidFill>
                  <a:prstClr val="black">
                    <a:lumMod val="85000"/>
                    <a:lumOff val="15000"/>
                  </a:prstClr>
                </a:solidFill>
                <a:latin typeface="Poppins"/>
                <a:cs typeface="Poppins" panose="00000500000000000000" pitchFamily="2" charset="0"/>
              </a:rPr>
              <a:t>Portfolio Summarization (Structured Data Analysis)</a:t>
            </a:r>
            <a:endParaRPr lang="en-US" sz="800" kern="0" spc="100" dirty="0">
              <a:solidFill>
                <a:prstClr val="black">
                  <a:lumMod val="85000"/>
                  <a:lumOff val="15000"/>
                </a:prstClr>
              </a:solidFill>
              <a:latin typeface="Poppins"/>
              <a:cs typeface="Poppins" panose="00000500000000000000" pitchFamily="2" charset="0"/>
            </a:endParaRPr>
          </a:p>
        </p:txBody>
      </p:sp>
      <p:sp>
        <p:nvSpPr>
          <p:cNvPr id="6" name="Rounded Rectangle 101">
            <a:extLst>
              <a:ext uri="{FF2B5EF4-FFF2-40B4-BE49-F238E27FC236}">
                <a16:creationId xmlns:a16="http://schemas.microsoft.com/office/drawing/2014/main" id="{871E3954-B14C-24B6-EA86-CB5825623EE7}"/>
              </a:ext>
            </a:extLst>
          </p:cNvPr>
          <p:cNvSpPr/>
          <p:nvPr/>
        </p:nvSpPr>
        <p:spPr>
          <a:xfrm>
            <a:off x="181123" y="4834106"/>
            <a:ext cx="5790599" cy="18828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2333625" algn="l"/>
              </a:tabLst>
              <a:defRPr/>
            </a:pPr>
            <a:endParaRPr lang="en-US" sz="1200" spc="100" dirty="0">
              <a:solidFill>
                <a:prstClr val="black"/>
              </a:solidFill>
              <a:latin typeface="Poppins"/>
              <a:cs typeface="Arial"/>
              <a:sym typeface="Arial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r>
              <a:rPr lang="en-US" sz="800" spc="100" dirty="0">
                <a:solidFill>
                  <a:prstClr val="black"/>
                </a:solidFill>
                <a:latin typeface="Poppins"/>
                <a:cs typeface="Arial"/>
                <a:sym typeface="Arial"/>
              </a:rPr>
              <a:t>Exponentia.ai aims to cater to the requirement by utilizing Gen AI Accelerator - </a:t>
            </a:r>
            <a:r>
              <a:rPr lang="en-US" sz="800" spc="100" dirty="0" err="1">
                <a:solidFill>
                  <a:prstClr val="black"/>
                </a:solidFill>
                <a:latin typeface="Poppins"/>
                <a:cs typeface="Arial"/>
              </a:rPr>
              <a:t>AIXponent</a:t>
            </a:r>
            <a:endParaRPr lang="en-US" sz="800" kern="1200" spc="100" dirty="0">
              <a:solidFill>
                <a:prstClr val="black"/>
              </a:solidFill>
              <a:latin typeface="Poppins"/>
              <a:cs typeface="Arial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endParaRPr lang="en-US" sz="800" kern="1200" spc="100" dirty="0">
              <a:solidFill>
                <a:prstClr val="black"/>
              </a:solidFill>
              <a:latin typeface="Poppins"/>
              <a:cs typeface="Arial"/>
              <a:sym typeface="Arial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r>
              <a:rPr lang="en-US" sz="800" spc="100" dirty="0">
                <a:solidFill>
                  <a:prstClr val="black"/>
                </a:solidFill>
                <a:latin typeface="Poppins"/>
                <a:cs typeface="Arial"/>
                <a:sym typeface="Arial"/>
              </a:rPr>
              <a:t>Exponentia.ai plans to develop the Gen AI-based solution as a fixed-cost project, utilizing a team of highly skilled and experienced professionals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endParaRPr lang="en-US" sz="800" spc="100" dirty="0">
              <a:solidFill>
                <a:prstClr val="black"/>
              </a:solidFill>
              <a:latin typeface="Poppins"/>
              <a:cs typeface="Arial"/>
              <a:sym typeface="Arial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r>
              <a:rPr lang="en-US" sz="800" spc="100" dirty="0">
                <a:solidFill>
                  <a:prstClr val="black"/>
                </a:solidFill>
                <a:latin typeface="Poppins"/>
                <a:cs typeface="Arial"/>
                <a:sym typeface="Arial"/>
              </a:rPr>
              <a:t>With Exponentia's Gen AI accelerator and expertise, the time to deploy and adopt the solution will be significantly reduced, ensuring a faster implementation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2333625" algn="l"/>
              </a:tabLst>
              <a:defRPr/>
            </a:pPr>
            <a:endParaRPr lang="en-US" sz="800" spc="100" dirty="0">
              <a:solidFill>
                <a:prstClr val="black"/>
              </a:solidFill>
              <a:latin typeface="Poppins"/>
              <a:cs typeface="Arial"/>
              <a:sym typeface="Arial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r>
              <a:rPr lang="en-US" sz="800" spc="100" dirty="0">
                <a:solidFill>
                  <a:prstClr val="black"/>
                </a:solidFill>
                <a:latin typeface="Poppins"/>
                <a:cs typeface="Arial"/>
                <a:sym typeface="Arial"/>
              </a:rPr>
              <a:t>The solution will provide insights from both structured and unstructured data for the defined use case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endParaRPr lang="en-US" sz="800" spc="100" dirty="0">
              <a:solidFill>
                <a:prstClr val="black"/>
              </a:solidFill>
              <a:latin typeface="Poppins"/>
              <a:cs typeface="Arial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Blip>
                <a:blip r:embed="rId2"/>
              </a:buBlip>
              <a:tabLst>
                <a:tab pos="2333625" algn="l"/>
              </a:tabLst>
              <a:defRPr/>
            </a:pPr>
            <a:r>
              <a:rPr lang="en-US" sz="800" spc="100" dirty="0">
                <a:solidFill>
                  <a:prstClr val="black"/>
                </a:solidFill>
                <a:latin typeface="Poppins"/>
                <a:cs typeface="Arial"/>
                <a:sym typeface="Arial"/>
              </a:rPr>
              <a:t>It will offer relevant citations and access to source documents, ensuring comprehensive and accurate responses to user queries</a:t>
            </a:r>
          </a:p>
        </p:txBody>
      </p:sp>
      <p:sp>
        <p:nvSpPr>
          <p:cNvPr id="7" name="Chevron 8">
            <a:extLst>
              <a:ext uri="{FF2B5EF4-FFF2-40B4-BE49-F238E27FC236}">
                <a16:creationId xmlns:a16="http://schemas.microsoft.com/office/drawing/2014/main" id="{915CBD51-4BBF-D9C7-6058-EB6E48E31D59}"/>
              </a:ext>
            </a:extLst>
          </p:cNvPr>
          <p:cNvSpPr/>
          <p:nvPr/>
        </p:nvSpPr>
        <p:spPr>
          <a:xfrm>
            <a:off x="160590" y="4620586"/>
            <a:ext cx="1621998" cy="364551"/>
          </a:xfrm>
          <a:prstGeom prst="rect">
            <a:avLst/>
          </a:prstGeom>
          <a:solidFill>
            <a:schemeClr val="accent6"/>
          </a:solidFill>
          <a:ln w="2857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200" kern="0" spc="100">
                <a:solidFill>
                  <a:prstClr val="white"/>
                </a:solidFill>
                <a:latin typeface="poppins semibold"/>
                <a:sym typeface="Arial"/>
              </a:rPr>
              <a:t>Our P</a:t>
            </a:r>
            <a:r>
              <a:rPr lang="en-IN" sz="1200" kern="0" spc="100" err="1">
                <a:solidFill>
                  <a:prstClr val="white"/>
                </a:solidFill>
                <a:latin typeface="poppins semibold"/>
                <a:sym typeface="Arial"/>
              </a:rPr>
              <a:t>roposal</a:t>
            </a:r>
            <a:endParaRPr kumimoji="0" lang="en-IN" sz="1200" b="0" i="0" u="none" strike="noStrike" kern="0" cap="none" spc="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semibold"/>
              <a:ea typeface="+mn-ea"/>
              <a:cs typeface="+mn-cs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7A3B6D-24E6-2E61-B4B8-0128983E0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422" y="888763"/>
            <a:ext cx="6067514" cy="450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084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A78CB713-E328-DC0C-0EC8-5D1DC9D1F0E0}"/>
              </a:ext>
            </a:extLst>
          </p:cNvPr>
          <p:cNvSpPr txBox="1">
            <a:spLocks/>
          </p:cNvSpPr>
          <p:nvPr/>
        </p:nvSpPr>
        <p:spPr>
          <a:xfrm>
            <a:off x="258754" y="234360"/>
            <a:ext cx="9125255" cy="39722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300" spc="100" baseline="0">
                <a:solidFill>
                  <a:srgbClr val="002060"/>
                </a:solidFill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300" cap="none" spc="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 SemiBold"/>
                <a:ea typeface="+mj-ea"/>
                <a:cs typeface="Poppins SemiBold"/>
              </a:rPr>
              <a:t>Project Timeline &amp; Milestones</a:t>
            </a:r>
            <a:endParaRPr kumimoji="0" lang="en-US" sz="2200" b="0" i="0" u="none" strike="noStrike" kern="1300" cap="none" spc="100" normalizeH="0" baseline="0" noProof="0" dirty="0">
              <a:ln>
                <a:noFill/>
              </a:ln>
              <a:solidFill>
                <a:srgbClr val="002060"/>
              </a:solidFill>
              <a:effectLst/>
              <a:highlight>
                <a:srgbClr val="FFFF00"/>
              </a:highlight>
              <a:uLnTx/>
              <a:uFillTx/>
              <a:latin typeface="Poppins SemiBold"/>
              <a:ea typeface="+mj-ea"/>
              <a:cs typeface="Poppins SemiBold"/>
            </a:endParaRPr>
          </a:p>
        </p:txBody>
      </p:sp>
      <p:graphicFrame>
        <p:nvGraphicFramePr>
          <p:cNvPr id="2" name="Tableau 91">
            <a:extLst>
              <a:ext uri="{FF2B5EF4-FFF2-40B4-BE49-F238E27FC236}">
                <a16:creationId xmlns:a16="http://schemas.microsoft.com/office/drawing/2014/main" id="{702FA8FE-C71C-71CA-AD08-B1EAC7116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267667"/>
              </p:ext>
            </p:extLst>
          </p:nvPr>
        </p:nvGraphicFramePr>
        <p:xfrm>
          <a:off x="8904121" y="844356"/>
          <a:ext cx="3101788" cy="2882208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150008">
                  <a:extLst>
                    <a:ext uri="{9D8B030D-6E8A-4147-A177-3AD203B41FA5}">
                      <a16:colId xmlns:a16="http://schemas.microsoft.com/office/drawing/2014/main" val="3355778096"/>
                    </a:ext>
                  </a:extLst>
                </a:gridCol>
                <a:gridCol w="951780">
                  <a:extLst>
                    <a:ext uri="{9D8B030D-6E8A-4147-A177-3AD203B41FA5}">
                      <a16:colId xmlns:a16="http://schemas.microsoft.com/office/drawing/2014/main" val="146752571"/>
                    </a:ext>
                  </a:extLst>
                </a:gridCol>
              </a:tblGrid>
              <a:tr h="411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lang="en-GB" sz="1200" cap="small" baseline="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Delivery milestones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</a:pPr>
                      <a:r>
                        <a:rPr lang="en-GB" sz="1200" cap="small" baseline="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Date/ Week#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981043"/>
                  </a:ext>
                </a:extLst>
              </a:tr>
              <a:tr h="41174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100"/>
                        </a:spcBef>
                      </a:pPr>
                      <a:r>
                        <a:rPr lang="en-GB" sz="100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PM0 (Kick-off)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</a:pPr>
                      <a:r>
                        <a:rPr lang="en-GB" sz="1000" noProof="0" dirty="0">
                          <a:latin typeface="Calibri"/>
                          <a:cs typeface="Calibri"/>
                        </a:rPr>
                        <a:t>DD-MM-YYYY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524114"/>
                  </a:ext>
                </a:extLst>
              </a:tr>
              <a:tr h="41174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100"/>
                        </a:spcBef>
                      </a:pPr>
                      <a:r>
                        <a:rPr lang="en-GB" sz="100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PM1 (Plan)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DD-MM-YYYY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09059"/>
                  </a:ext>
                </a:extLst>
              </a:tr>
              <a:tr h="41174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100"/>
                        </a:spcBef>
                      </a:pPr>
                      <a:r>
                        <a:rPr lang="en-GB" sz="100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PM2 (Design)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DD-MM-YYYY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605053"/>
                  </a:ext>
                </a:extLst>
              </a:tr>
              <a:tr h="41174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100"/>
                        </a:spcBef>
                      </a:pPr>
                      <a:r>
                        <a:rPr lang="en-GB" sz="100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PM3 (Build)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DD-MM-YYYY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874211"/>
                  </a:ext>
                </a:extLst>
              </a:tr>
              <a:tr h="41174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100"/>
                        </a:spcBef>
                      </a:pPr>
                      <a:r>
                        <a:rPr lang="en-GB" sz="100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PM4 (Test/UAT)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DD-MM-YYYY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033340"/>
                  </a:ext>
                </a:extLst>
              </a:tr>
              <a:tr h="41174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100"/>
                        </a:spcBef>
                      </a:pPr>
                      <a:r>
                        <a:rPr lang="en-GB" sz="100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PM5 (Deploy)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DD-MM-YYYY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987794"/>
                  </a:ext>
                </a:extLst>
              </a:tr>
            </a:tbl>
          </a:graphicData>
        </a:graphic>
      </p:graphicFrame>
      <p:graphicFrame>
        <p:nvGraphicFramePr>
          <p:cNvPr id="3" name="Tableau 91">
            <a:extLst>
              <a:ext uri="{FF2B5EF4-FFF2-40B4-BE49-F238E27FC236}">
                <a16:creationId xmlns:a16="http://schemas.microsoft.com/office/drawing/2014/main" id="{0ADAC820-56C6-6BDD-39AF-988C7F424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658646"/>
              </p:ext>
            </p:extLst>
          </p:nvPr>
        </p:nvGraphicFramePr>
        <p:xfrm>
          <a:off x="8903040" y="3799945"/>
          <a:ext cx="3094691" cy="2882208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160195">
                  <a:extLst>
                    <a:ext uri="{9D8B030D-6E8A-4147-A177-3AD203B41FA5}">
                      <a16:colId xmlns:a16="http://schemas.microsoft.com/office/drawing/2014/main" val="3355778096"/>
                    </a:ext>
                  </a:extLst>
                </a:gridCol>
                <a:gridCol w="934496">
                  <a:extLst>
                    <a:ext uri="{9D8B030D-6E8A-4147-A177-3AD203B41FA5}">
                      <a16:colId xmlns:a16="http://schemas.microsoft.com/office/drawing/2014/main" val="731269343"/>
                    </a:ext>
                  </a:extLst>
                </a:gridCol>
              </a:tblGrid>
              <a:tr h="411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lang="en-GB" sz="1200" b="1" cap="small" baseline="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Payment milestones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</a:pPr>
                      <a:r>
                        <a:rPr lang="en-GB" sz="1200" b="1" cap="small" baseline="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Payment%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981043"/>
                  </a:ext>
                </a:extLst>
              </a:tr>
              <a:tr h="41174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100"/>
                        </a:spcBef>
                      </a:pPr>
                      <a:r>
                        <a:rPr lang="en-GB" sz="1000" b="1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PM0 (Kick-off)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40%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524114"/>
                  </a:ext>
                </a:extLst>
              </a:tr>
              <a:tr h="41174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100"/>
                        </a:spcBef>
                      </a:pPr>
                      <a:r>
                        <a:rPr lang="en-GB" sz="100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PM1 (Plan)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N/A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09059"/>
                  </a:ext>
                </a:extLst>
              </a:tr>
              <a:tr h="41174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100"/>
                        </a:spcBef>
                      </a:pPr>
                      <a:r>
                        <a:rPr lang="en-GB" sz="100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PM2 (Design)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N/A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605053"/>
                  </a:ext>
                </a:extLst>
              </a:tr>
              <a:tr h="41174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100"/>
                        </a:spcBef>
                      </a:pPr>
                      <a:r>
                        <a:rPr lang="en-GB" sz="100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PM3 (Build)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N/A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874211"/>
                  </a:ext>
                </a:extLst>
              </a:tr>
              <a:tr h="41174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100"/>
                        </a:spcBef>
                      </a:pPr>
                      <a:r>
                        <a:rPr lang="en-GB" sz="1000" b="1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PM4 (Test/UAT)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40%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033340"/>
                  </a:ext>
                </a:extLst>
              </a:tr>
              <a:tr h="41174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100"/>
                        </a:spcBef>
                      </a:pPr>
                      <a:r>
                        <a:rPr lang="en-GB" sz="1000" b="1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PM5 (Deploy)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20%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98779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1E32DE7-14BB-EE05-6407-2EE65EB4E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60" y="854110"/>
            <a:ext cx="8598848" cy="585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21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A2E04-8141-9C8B-A5C0-BF1839B8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275" y="3484476"/>
            <a:ext cx="6299725" cy="587877"/>
          </a:xfrm>
        </p:spPr>
        <p:txBody>
          <a:bodyPr/>
          <a:lstStyle/>
          <a:p>
            <a:r>
              <a:rPr lang="en-IN" dirty="0">
                <a:latin typeface="Poppins SemiBold"/>
                <a:cs typeface="Poppins SemiBold"/>
              </a:rPr>
              <a:t>Top 5 - Risks, Assumptions, Issues &amp; Dependencies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9205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793635C-56BA-8BBA-AD0F-E513CA4E53EA}"/>
              </a:ext>
            </a:extLst>
          </p:cNvPr>
          <p:cNvSpPr txBox="1">
            <a:spLocks/>
          </p:cNvSpPr>
          <p:nvPr/>
        </p:nvSpPr>
        <p:spPr>
          <a:xfrm>
            <a:off x="79454" y="216430"/>
            <a:ext cx="9396240" cy="39722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300" spc="100" baseline="0">
                <a:solidFill>
                  <a:srgbClr val="002060"/>
                </a:solidFill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300" cap="none" spc="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 SemiBold"/>
                <a:ea typeface="+mj-ea"/>
                <a:cs typeface="Poppins SemiBold"/>
              </a:rPr>
              <a:t>Top 5 - Project Risks, Assumptions, Issues &amp; Dependencies</a:t>
            </a:r>
            <a:endParaRPr kumimoji="0" lang="en-US" sz="2200" b="0" i="0" u="none" strike="noStrike" kern="1300" cap="none" spc="100" normalizeH="0" baseline="0" noProof="0" dirty="0">
              <a:ln>
                <a:noFill/>
              </a:ln>
              <a:solidFill>
                <a:srgbClr val="002060"/>
              </a:solidFill>
              <a:effectLst/>
              <a:highlight>
                <a:srgbClr val="FFFF00"/>
              </a:highlight>
              <a:uLnTx/>
              <a:uFillTx/>
              <a:latin typeface="Poppins SemiBold"/>
              <a:ea typeface="+mj-ea"/>
              <a:cs typeface="Poppins SemiBold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0BD794-C310-1A10-57AF-4FDA4046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671368"/>
              </p:ext>
            </p:extLst>
          </p:nvPr>
        </p:nvGraphicFramePr>
        <p:xfrm>
          <a:off x="161638" y="893135"/>
          <a:ext cx="11949680" cy="57228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931">
                  <a:extLst>
                    <a:ext uri="{9D8B030D-6E8A-4147-A177-3AD203B41FA5}">
                      <a16:colId xmlns:a16="http://schemas.microsoft.com/office/drawing/2014/main" val="2943856448"/>
                    </a:ext>
                  </a:extLst>
                </a:gridCol>
                <a:gridCol w="966400">
                  <a:extLst>
                    <a:ext uri="{9D8B030D-6E8A-4147-A177-3AD203B41FA5}">
                      <a16:colId xmlns:a16="http://schemas.microsoft.com/office/drawing/2014/main" val="542048111"/>
                    </a:ext>
                  </a:extLst>
                </a:gridCol>
                <a:gridCol w="2653588">
                  <a:extLst>
                    <a:ext uri="{9D8B030D-6E8A-4147-A177-3AD203B41FA5}">
                      <a16:colId xmlns:a16="http://schemas.microsoft.com/office/drawing/2014/main" val="960615560"/>
                    </a:ext>
                  </a:extLst>
                </a:gridCol>
                <a:gridCol w="3856411">
                  <a:extLst>
                    <a:ext uri="{9D8B030D-6E8A-4147-A177-3AD203B41FA5}">
                      <a16:colId xmlns:a16="http://schemas.microsoft.com/office/drawing/2014/main" val="3202824608"/>
                    </a:ext>
                  </a:extLst>
                </a:gridCol>
                <a:gridCol w="960492">
                  <a:extLst>
                    <a:ext uri="{9D8B030D-6E8A-4147-A177-3AD203B41FA5}">
                      <a16:colId xmlns:a16="http://schemas.microsoft.com/office/drawing/2014/main" val="3214253016"/>
                    </a:ext>
                  </a:extLst>
                </a:gridCol>
                <a:gridCol w="940015">
                  <a:extLst>
                    <a:ext uri="{9D8B030D-6E8A-4147-A177-3AD203B41FA5}">
                      <a16:colId xmlns:a16="http://schemas.microsoft.com/office/drawing/2014/main" val="856901886"/>
                    </a:ext>
                  </a:extLst>
                </a:gridCol>
                <a:gridCol w="2203843">
                  <a:extLst>
                    <a:ext uri="{9D8B030D-6E8A-4147-A177-3AD203B41FA5}">
                      <a16:colId xmlns:a16="http://schemas.microsoft.com/office/drawing/2014/main" val="1885973100"/>
                    </a:ext>
                  </a:extLst>
                </a:gridCol>
              </a:tblGrid>
              <a:tr h="4092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No.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RAID Category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Impact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Probability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Severity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Mitigation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505323"/>
                  </a:ext>
                </a:extLst>
              </a:tr>
              <a:tr h="99427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sz="1000" b="0" i="0" u="none" strike="noStrike" kern="1200" cap="none" spc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" panose="00000500000000000000" pitchFamily="2" charset="0"/>
                          <a:ea typeface="Century Gothic" charset="0"/>
                          <a:cs typeface="Poppins" panose="00000500000000000000" pitchFamily="2" charset="0"/>
                        </a:rPr>
                        <a:t>1</a:t>
                      </a:r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82769"/>
                  </a:ext>
                </a:extLst>
              </a:tr>
              <a:tr h="1022987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sz="1000" b="0" i="0" u="none" strike="noStrike" kern="1200" cap="none" spc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" panose="00000500000000000000" pitchFamily="2" charset="0"/>
                          <a:ea typeface="Century Gothic" charset="0"/>
                          <a:cs typeface="Poppins" panose="00000500000000000000" pitchFamily="2" charset="0"/>
                        </a:rPr>
                        <a:t>2</a:t>
                      </a:r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IN" sz="1000" b="0" i="0" u="none" strike="noStrike" kern="1200" cap="none" spc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38878"/>
                  </a:ext>
                </a:extLst>
              </a:tr>
              <a:tr h="1022987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sz="1000" b="0" i="0" u="none" strike="noStrike" kern="1200" cap="none" spc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" panose="00000500000000000000" pitchFamily="2" charset="0"/>
                          <a:ea typeface="Century Gothic" charset="0"/>
                          <a:cs typeface="Poppins" panose="00000500000000000000" pitchFamily="2" charset="0"/>
                        </a:rPr>
                        <a:t>3</a:t>
                      </a:r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6625"/>
                  </a:ext>
                </a:extLst>
              </a:tr>
              <a:tr h="1250320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sz="1000" b="0" i="0" u="none" strike="noStrike" kern="1200" cap="none" spc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" panose="00000500000000000000" pitchFamily="2" charset="0"/>
                          <a:ea typeface="Century Gothic" charset="0"/>
                          <a:cs typeface="Poppins" panose="00000500000000000000" pitchFamily="2" charset="0"/>
                        </a:rPr>
                        <a:t>4</a:t>
                      </a:r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IN" sz="1000" b="0" i="0" u="none" strike="noStrike" kern="1200" cap="none" spc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403217"/>
                  </a:ext>
                </a:extLst>
              </a:tr>
              <a:tr h="1022987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sz="1000" b="0" i="0" u="none" strike="noStrike" kern="1200" cap="none" spc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" panose="00000500000000000000" pitchFamily="2" charset="0"/>
                          <a:ea typeface="Century Gothic" charset="0"/>
                          <a:cs typeface="Poppins" panose="00000500000000000000" pitchFamily="2" charset="0"/>
                        </a:rPr>
                        <a:t>5</a:t>
                      </a:r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IN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n-US" sz="1000" b="0" i="0" u="none" strike="noStrike" kern="1200" cap="none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 panose="00000500000000000000" pitchFamily="2" charset="0"/>
                        <a:ea typeface="Century Gothic" charset="0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943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024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F0BA-5EC4-396D-E8DE-A6965C40B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275" y="3484476"/>
            <a:ext cx="6922025" cy="587877"/>
          </a:xfrm>
        </p:spPr>
        <p:txBody>
          <a:bodyPr/>
          <a:lstStyle/>
          <a:p>
            <a:r>
              <a:rPr lang="en-IN" dirty="0"/>
              <a:t>Hand-Over Status Proposal to Delivery Team</a:t>
            </a:r>
          </a:p>
        </p:txBody>
      </p:sp>
    </p:spTree>
    <p:extLst>
      <p:ext uri="{BB962C8B-B14F-4D97-AF65-F5344CB8AC3E}">
        <p14:creationId xmlns:p14="http://schemas.microsoft.com/office/powerpoint/2010/main" val="393101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8">
            <a:extLst>
              <a:ext uri="{FF2B5EF4-FFF2-40B4-BE49-F238E27FC236}">
                <a16:creationId xmlns:a16="http://schemas.microsoft.com/office/drawing/2014/main" id="{2F7E3805-2328-1D75-D3CD-E8EEC92C7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243559"/>
              </p:ext>
            </p:extLst>
          </p:nvPr>
        </p:nvGraphicFramePr>
        <p:xfrm>
          <a:off x="1595717" y="837489"/>
          <a:ext cx="10452848" cy="57515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98100">
                  <a:extLst>
                    <a:ext uri="{9D8B030D-6E8A-4147-A177-3AD203B41FA5}">
                      <a16:colId xmlns:a16="http://schemas.microsoft.com/office/drawing/2014/main" val="176570377"/>
                    </a:ext>
                  </a:extLst>
                </a:gridCol>
                <a:gridCol w="1150001">
                  <a:extLst>
                    <a:ext uri="{9D8B030D-6E8A-4147-A177-3AD203B41FA5}">
                      <a16:colId xmlns:a16="http://schemas.microsoft.com/office/drawing/2014/main" val="3419957922"/>
                    </a:ext>
                  </a:extLst>
                </a:gridCol>
                <a:gridCol w="1041175">
                  <a:extLst>
                    <a:ext uri="{9D8B030D-6E8A-4147-A177-3AD203B41FA5}">
                      <a16:colId xmlns:a16="http://schemas.microsoft.com/office/drawing/2014/main" val="1859461163"/>
                    </a:ext>
                  </a:extLst>
                </a:gridCol>
                <a:gridCol w="1123373">
                  <a:extLst>
                    <a:ext uri="{9D8B030D-6E8A-4147-A177-3AD203B41FA5}">
                      <a16:colId xmlns:a16="http://schemas.microsoft.com/office/drawing/2014/main" val="1837291289"/>
                    </a:ext>
                  </a:extLst>
                </a:gridCol>
                <a:gridCol w="1185021">
                  <a:extLst>
                    <a:ext uri="{9D8B030D-6E8A-4147-A177-3AD203B41FA5}">
                      <a16:colId xmlns:a16="http://schemas.microsoft.com/office/drawing/2014/main" val="383431752"/>
                    </a:ext>
                  </a:extLst>
                </a:gridCol>
                <a:gridCol w="4555774">
                  <a:extLst>
                    <a:ext uri="{9D8B030D-6E8A-4147-A177-3AD203B41FA5}">
                      <a16:colId xmlns:a16="http://schemas.microsoft.com/office/drawing/2014/main" val="2923573881"/>
                    </a:ext>
                  </a:extLst>
                </a:gridCol>
                <a:gridCol w="499404">
                  <a:extLst>
                    <a:ext uri="{9D8B030D-6E8A-4147-A177-3AD203B41FA5}">
                      <a16:colId xmlns:a16="http://schemas.microsoft.com/office/drawing/2014/main" val="3905936580"/>
                    </a:ext>
                  </a:extLst>
                </a:gridCol>
              </a:tblGrid>
              <a:tr h="656033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9pPr>
                    </a:lstStyle>
                    <a:p>
                      <a:pPr marL="0" marR="0" lvl="0" indent="0" algn="ctr" defTabSz="19526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000" b="1" i="0" u="none" strike="noStrike" cap="sm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egoe UI" panose="020B0502040204020203" pitchFamily="34" charset="0"/>
                          <a:cs typeface="Calibri" panose="020F0502020204030204" pitchFamily="34" charset="0"/>
                          <a:sym typeface="Verdana"/>
                        </a:rPr>
                        <a:t>Area</a:t>
                      </a:r>
                    </a:p>
                  </a:txBody>
                  <a:tcPr marL="36000" marR="36000" marT="36000" marB="36000" anchor="ctr" horzOverflow="overflow">
                    <a:solidFill>
                      <a:srgbClr val="ED5920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9pPr>
                    </a:lstStyle>
                    <a:p>
                      <a:pPr marL="0" marR="0" lvl="0" indent="0" algn="ctr" defTabSz="19526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000" b="1" i="0" u="none" strike="noStrike" cap="sm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egoe UI" panose="020B0502040204020203" pitchFamily="34" charset="0"/>
                          <a:cs typeface="Calibri" panose="020F0502020204030204" pitchFamily="34" charset="0"/>
                          <a:sym typeface="Verdana"/>
                        </a:rPr>
                        <a:t>proposal Team</a:t>
                      </a:r>
                    </a:p>
                  </a:txBody>
                  <a:tcPr marL="36000" marR="36000" marT="36000" marB="36000" anchor="ctr" horzOverflow="overflow">
                    <a:lnB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9526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GB" sz="1000" b="1" i="0" u="none" strike="noStrike" cap="small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Segoe UI" panose="020B0502040204020203" pitchFamily="34" charset="0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 horzOverflow="overflow">
                    <a:lnB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066A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9pPr>
                    </a:lstStyle>
                    <a:p>
                      <a:pPr marL="0" marR="0" lvl="0" indent="0" algn="ctr" defTabSz="19526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000" b="1" i="0" u="none" strike="noStrike" cap="sm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egoe UI" panose="020B0502040204020203" pitchFamily="34" charset="0"/>
                          <a:cs typeface="Calibri" panose="020F0502020204030204" pitchFamily="34" charset="0"/>
                          <a:sym typeface="Verdana"/>
                        </a:rPr>
                        <a:t>Delivery Team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Segoe UI" panose="020B0502040204020203" pitchFamily="34" charset="0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 horzOverflow="overflow">
                    <a:lnB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9526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Segoe UI" panose="020B0502040204020203" pitchFamily="34" charset="0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 horzOverflow="overflow">
                    <a:lnB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066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526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Segoe UI" panose="020B0502040204020203" pitchFamily="34" charset="0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 horzOverflow="overflow">
                    <a:lnB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526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Segoe UI" panose="020B0502040204020203" pitchFamily="34" charset="0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 horzOverflow="overflow">
                    <a:lnB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431436"/>
                  </a:ext>
                </a:extLst>
              </a:tr>
              <a:tr h="65603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9526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000" b="1" i="0" u="none" strike="noStrike" cap="sm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egoe UI" panose="020B0502040204020203" pitchFamily="34" charset="0"/>
                          <a:cs typeface="Calibri" panose="020F0502020204030204" pitchFamily="34" charset="0"/>
                          <a:sym typeface="Verdana"/>
                        </a:rPr>
                        <a:t>Role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526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000" b="1" i="0" u="none" strike="noStrike" cap="sm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egoe UI" panose="020B0502040204020203" pitchFamily="34" charset="0"/>
                          <a:cs typeface="Calibri" panose="020F0502020204030204" pitchFamily="34" charset="0"/>
                          <a:sym typeface="Verdana"/>
                        </a:rPr>
                        <a:t>Name</a:t>
                      </a:r>
                    </a:p>
                  </a:txBody>
                  <a:tcPr marL="36000" marR="36000" marT="36000" marB="36000" anchor="ctr" horzOverflow="overflow">
                    <a:lnT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526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GB" sz="1000" b="1" i="0" u="none" strike="noStrike" cap="sm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egoe UI" panose="020B0502040204020203" pitchFamily="34" charset="0"/>
                          <a:cs typeface="Calibri" panose="020F0502020204030204" pitchFamily="34" charset="0"/>
                          <a:sym typeface="Verdana"/>
                        </a:rPr>
                        <a:t>Name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Segoe UI" panose="020B0502040204020203" pitchFamily="34" charset="0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 horzOverflow="overflow">
                    <a:lnT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526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000" b="1" i="0" u="none" strike="noStrike" cap="sm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egoe UI" panose="020B0502040204020203" pitchFamily="34" charset="0"/>
                          <a:cs typeface="Calibri" panose="020F0502020204030204" pitchFamily="34" charset="0"/>
                          <a:sym typeface="Verdana"/>
                        </a:rPr>
                        <a:t>Role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Segoe UI" panose="020B0502040204020203" pitchFamily="34" charset="0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 horzOverflow="overflow">
                    <a:lnT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526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egoe UI" panose="020B0502040204020203" pitchFamily="34" charset="0"/>
                          <a:cs typeface="Calibri" panose="020F0502020204030204" pitchFamily="34" charset="0"/>
                          <a:sym typeface="Verdana"/>
                        </a:rPr>
                        <a:t>Documents &amp; Templates to be made available</a:t>
                      </a:r>
                    </a:p>
                  </a:txBody>
                  <a:tcPr marL="36000" marR="36000" marT="36000" marB="36000" anchor="ctr" horzOverflow="overflow">
                    <a:lnT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526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egoe UI" panose="020B0502040204020203" pitchFamily="34" charset="0"/>
                          <a:cs typeface="Calibri" panose="020F0502020204030204" pitchFamily="34" charset="0"/>
                          <a:sym typeface="Verdana"/>
                        </a:rPr>
                        <a:t>RAG</a:t>
                      </a:r>
                    </a:p>
                  </a:txBody>
                  <a:tcPr marL="36000" marR="36000" marT="36000" marB="36000" anchor="ctr" horzOverflow="overflow">
                    <a:lnT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9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399291"/>
                  </a:ext>
                </a:extLst>
              </a:tr>
              <a:tr h="7367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9pPr>
                    </a:lstStyle>
                    <a:p>
                      <a:pPr marL="0" marR="0" lvl="0" indent="0" algn="l" defTabSz="19526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S PGothic"/>
                          <a:cs typeface="Calibri" panose="020F0502020204030204" pitchFamily="34" charset="0"/>
                          <a:sym typeface="Verdana"/>
                        </a:rPr>
                        <a:t>Account Management</a:t>
                      </a:r>
                      <a:endParaRPr kumimoji="0" lang="en-GB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egoe UI" panose="020B0502040204020203" pitchFamily="34" charset="0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 horzOverflow="overflow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Customer Success Manager (CSM)</a:t>
                      </a:r>
                    </a:p>
                  </a:txBody>
                  <a:tcPr marL="36000" marR="36000" marT="36000" marB="3600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Ashish Yadav</a:t>
                      </a:r>
                    </a:p>
                  </a:txBody>
                  <a:tcPr marL="36000" marR="36000" marT="36000" marB="3600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Ashish Yadav</a:t>
                      </a:r>
                    </a:p>
                  </a:txBody>
                  <a:tcPr marL="36000" marR="36000" marT="36000" marB="3600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Customer Success Manager (CSM)</a:t>
                      </a:r>
                    </a:p>
                  </a:txBody>
                  <a:tcPr marL="36000" marR="36000" marT="36000" marB="3600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Master Service Agreement , Proposal Document , Cost and Estimation Sheet</a:t>
                      </a:r>
                    </a:p>
                  </a:txBody>
                  <a:tcPr marL="36000" marR="36000" marT="36000" marB="3600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G</a:t>
                      </a:r>
                    </a:p>
                  </a:txBody>
                  <a:tcPr marL="36000" marR="36000" marT="36000" marB="3600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575118"/>
                  </a:ext>
                </a:extLst>
              </a:tr>
              <a:tr h="7367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S PGothic"/>
                          <a:cs typeface="Calibri" panose="020F0502020204030204" pitchFamily="34" charset="0"/>
                          <a:sym typeface="Verdana"/>
                        </a:rPr>
                        <a:t>Delivery Governance</a:t>
                      </a:r>
                    </a:p>
                  </a:txBody>
                  <a:tcPr marL="36000" marR="36000" marT="36000" marB="36000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Gen-AI Lead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Kamlesh Pant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Kamlesh Pant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Gen-AI Lead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Master Service Agreement , Proposal Document , Cost and Estimation Sheet</a:t>
                      </a:r>
                      <a:endParaRPr lang="en-US" sz="1000" b="0" kern="1200" noProof="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Verdana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R</a:t>
                      </a:r>
                    </a:p>
                  </a:txBody>
                  <a:tcPr marL="36000" marR="36000" marT="36000" marB="3600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933773"/>
                  </a:ext>
                </a:extLst>
              </a:tr>
              <a:tr h="7558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S PGothic"/>
                          <a:cs typeface="Calibri" panose="020F0502020204030204" pitchFamily="34" charset="0"/>
                          <a:sym typeface="Verdana"/>
                        </a:rPr>
                        <a:t>Project Management</a:t>
                      </a:r>
                    </a:p>
                  </a:txBody>
                  <a:tcPr marL="36000" marR="36000" marT="36000" marB="36000" anchor="ctr" horzOverflow="overflow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Pre-Sales Lead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Rushabh</a:t>
                      </a: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 Tiwari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Archita Redij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Project Manager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Master Service Agreement , Proposal Document , Cost and Estimation Sheet, Project Governance Tracker, Weekly and Monthly Governance call Template, Lesson learned template etc.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R</a:t>
                      </a:r>
                    </a:p>
                  </a:txBody>
                  <a:tcPr marL="36000" marR="36000" marT="36000" marB="3600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760896"/>
                  </a:ext>
                </a:extLst>
              </a:tr>
              <a:tr h="7367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S PGothic"/>
                          <a:cs typeface="Calibri" panose="020F0502020204030204" pitchFamily="34" charset="0"/>
                          <a:sym typeface="Verdana"/>
                        </a:rPr>
                        <a:t>Requirement Management </a:t>
                      </a:r>
                    </a:p>
                  </a:txBody>
                  <a:tcPr marL="36000" marR="36000" marT="36000" marB="36000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Pre-Sales Lead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Rushabh</a:t>
                      </a: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 Tiwari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Sharmistha</a:t>
                      </a: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 Gosh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Business Analyst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Proposal Document, Requirement document, BRD Template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R</a:t>
                      </a:r>
                    </a:p>
                  </a:txBody>
                  <a:tcPr marL="36000" marR="36000" marT="36000" marB="3600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29317"/>
                  </a:ext>
                </a:extLst>
              </a:tr>
              <a:tr h="7367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S PGothic"/>
                          <a:cs typeface="Calibri" panose="020F0502020204030204" pitchFamily="34" charset="0"/>
                          <a:sym typeface="Verdana"/>
                        </a:rPr>
                        <a:t>Solution Design</a:t>
                      </a:r>
                    </a:p>
                  </a:txBody>
                  <a:tcPr marL="36000" marR="36000" marT="36000" marB="36000" anchor="ctr" horzOverflow="overflow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Pre-Sales Lead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Rushabh</a:t>
                      </a: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 Tiwari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Pratik Matre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Data Architect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Requirement documents, </a:t>
                      </a:r>
                      <a:r>
                        <a:rPr lang="en-IN" sz="10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DDIT, Mapping Template, </a:t>
                      </a: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HLD/LLD Design template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R</a:t>
                      </a:r>
                    </a:p>
                  </a:txBody>
                  <a:tcPr marL="36000" marR="36000" marT="36000" marB="3600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136184"/>
                  </a:ext>
                </a:extLst>
              </a:tr>
              <a:tr h="7367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S PGothic"/>
                          <a:cs typeface="Calibri" panose="020F0502020204030204" pitchFamily="34" charset="0"/>
                          <a:sym typeface="Verdana"/>
                        </a:rPr>
                        <a:t>Tech-Lead</a:t>
                      </a:r>
                    </a:p>
                  </a:txBody>
                  <a:tcPr marL="36000" marR="36000" marT="36000" marB="36000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Pre-Sales Lead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Rushabh</a:t>
                      </a: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 Tiwari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Pratik Matre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Data Architect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Requirement documents, </a:t>
                      </a:r>
                      <a:r>
                        <a:rPr lang="en-IN" sz="10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DDIT, Mapping Template, </a:t>
                      </a:r>
                      <a:r>
                        <a:rPr lang="en-US" sz="1000" b="0" kern="1200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HLD/LLD Design template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>
                          <a:srgbClr val="0066A1"/>
                        </a:buClr>
                        <a:buSzTx/>
                        <a:buFont typeface="Lucida Sans Unicode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Verdana"/>
                        </a:rPr>
                        <a:t>R</a:t>
                      </a:r>
                    </a:p>
                  </a:txBody>
                  <a:tcPr marL="36000" marR="36000" marT="36000" marB="3600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135388"/>
                  </a:ext>
                </a:extLst>
              </a:tr>
            </a:tbl>
          </a:graphicData>
        </a:graphic>
      </p:graphicFrame>
      <p:sp>
        <p:nvSpPr>
          <p:cNvPr id="3" name="Flèche : droite 1">
            <a:extLst>
              <a:ext uri="{FF2B5EF4-FFF2-40B4-BE49-F238E27FC236}">
                <a16:creationId xmlns:a16="http://schemas.microsoft.com/office/drawing/2014/main" id="{AF4B8BF6-3A4D-2CCC-B9DC-B13262DEF62C}"/>
              </a:ext>
            </a:extLst>
          </p:cNvPr>
          <p:cNvSpPr/>
          <p:nvPr/>
        </p:nvSpPr>
        <p:spPr>
          <a:xfrm>
            <a:off x="4292907" y="1044238"/>
            <a:ext cx="711034" cy="253292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FAD35492-13DC-4D1C-8CC7-FC1CA4FD0090}"/>
              </a:ext>
            </a:extLst>
          </p:cNvPr>
          <p:cNvSpPr txBox="1">
            <a:spLocks/>
          </p:cNvSpPr>
          <p:nvPr/>
        </p:nvSpPr>
        <p:spPr>
          <a:xfrm>
            <a:off x="258754" y="56553"/>
            <a:ext cx="9125255" cy="39722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300" spc="100" baseline="0">
                <a:solidFill>
                  <a:srgbClr val="002060"/>
                </a:solidFill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300" cap="none" spc="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 SemiBold"/>
                <a:ea typeface="+mj-ea"/>
                <a:cs typeface="Poppins SemiBold"/>
              </a:rPr>
              <a:t>Mapping of Key Roles in Handover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300" cap="none" spc="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 SemiBold"/>
                <a:ea typeface="+mj-ea"/>
                <a:cs typeface="Poppins SemiBold"/>
              </a:rPr>
              <a:t>Proposal </a:t>
            </a:r>
            <a:r>
              <a:rPr kumimoji="0" lang="en-US" sz="2200" b="0" i="0" u="none" strike="noStrike" kern="1300" cap="none" spc="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 SemiBold"/>
                <a:ea typeface="+mj-ea"/>
                <a:cs typeface="Poppins SemiBold"/>
                <a:sym typeface="Wingdings" panose="05000000000000000000" pitchFamily="2" charset="2"/>
              </a:rPr>
              <a:t> Delivery Team</a:t>
            </a:r>
            <a:r>
              <a:rPr kumimoji="0" lang="en-US" sz="2200" b="0" i="0" u="none" strike="noStrike" kern="1300" cap="none" spc="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 SemiBold"/>
                <a:ea typeface="+mj-ea"/>
                <a:cs typeface="Poppins SemiBold"/>
              </a:rPr>
              <a:t> </a:t>
            </a:r>
            <a:endParaRPr kumimoji="0" lang="en-US" sz="2200" b="0" i="0" u="none" strike="noStrike" kern="1300" cap="none" spc="100" normalizeH="0" baseline="0" noProof="0" dirty="0">
              <a:ln>
                <a:noFill/>
              </a:ln>
              <a:solidFill>
                <a:srgbClr val="002060"/>
              </a:solidFill>
              <a:effectLst/>
              <a:highlight>
                <a:srgbClr val="FFFF00"/>
              </a:highlight>
              <a:uLnTx/>
              <a:uFillTx/>
              <a:latin typeface="Poppins SemiBold"/>
              <a:ea typeface="+mj-ea"/>
              <a:cs typeface="Poppins SemiBold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1C256B-5881-2DEF-EB15-55C504785ED3}"/>
              </a:ext>
            </a:extLst>
          </p:cNvPr>
          <p:cNvSpPr/>
          <p:nvPr/>
        </p:nvSpPr>
        <p:spPr>
          <a:xfrm>
            <a:off x="206188" y="842682"/>
            <a:ext cx="1362636" cy="5782236"/>
          </a:xfrm>
          <a:prstGeom prst="rect">
            <a:avLst/>
          </a:prstGeom>
          <a:solidFill>
            <a:schemeClr val="bg1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lang="en-US" sz="1000" b="1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Mapping of Key Roles </a:t>
            </a:r>
          </a:p>
          <a:p>
            <a:pPr>
              <a:defRPr/>
            </a:pPr>
            <a:r>
              <a:rPr lang="en-US" sz="1000" b="1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Slide to be filled and presented in Handover Review.</a:t>
            </a: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1000" b="0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Keep this slide updated for each review, highlighting new changes each time.</a:t>
            </a:r>
          </a:p>
          <a:p>
            <a:pPr>
              <a:spcBef>
                <a:spcPts val="100"/>
              </a:spcBef>
            </a:pPr>
            <a:endParaRPr lang="en-US" sz="10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1000" b="1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Identify on this slide who are the key people in the Proposal Team and in the Contract and Delivery Team.</a:t>
            </a: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1000" b="0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This mapping shows the main knowledge transfers required.</a:t>
            </a: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1000" b="0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It might highlight roles in the Contract and Delivery Team not yet filled.</a:t>
            </a: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1000" b="0" i="0" kern="1200" dirty="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It clarifies the responsibilities for the contract execution.</a:t>
            </a: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b="0" i="0" kern="1200" dirty="0">
              <a:solidFill>
                <a:srgbClr val="000000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0" marR="0" lvl="1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b="0" i="0" kern="1200" dirty="0">
              <a:solidFill>
                <a:srgbClr val="000000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sym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600" b="1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Do not change format of this slide.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600" b="1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Verdana"/>
              </a:rPr>
              <a:t>Duplicate slide if needed.</a:t>
            </a:r>
            <a:endParaRPr lang="en-US" sz="600" b="0" i="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b="0" i="0" kern="1200" dirty="0">
              <a:solidFill>
                <a:srgbClr val="000000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sym typeface="Verdana"/>
            </a:endParaRPr>
          </a:p>
          <a:p>
            <a:pPr marL="88900" marR="0" lvl="1" indent="-88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en-US" sz="600" b="0" i="0" kern="1200" dirty="0">
              <a:solidFill>
                <a:srgbClr val="000000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268842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FA87D-FA2E-98C0-9DED-DDB67DD22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68921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PAGE 1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D5920"/>
      </a:accent1>
      <a:accent2>
        <a:srgbClr val="3E8DE0"/>
      </a:accent2>
      <a:accent3>
        <a:srgbClr val="004F99"/>
      </a:accent3>
      <a:accent4>
        <a:srgbClr val="FF7734"/>
      </a:accent4>
      <a:accent5>
        <a:srgbClr val="EF9337"/>
      </a:accent5>
      <a:accent6>
        <a:srgbClr val="ED5920"/>
      </a:accent6>
      <a:hlink>
        <a:srgbClr val="FF7734"/>
      </a:hlink>
      <a:folHlink>
        <a:srgbClr val="3E8DE0"/>
      </a:folHlink>
    </a:clrScheme>
    <a:fontScheme name="Custom 1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Agenda 1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D5920"/>
      </a:accent1>
      <a:accent2>
        <a:srgbClr val="3E8DE0"/>
      </a:accent2>
      <a:accent3>
        <a:srgbClr val="004F99"/>
      </a:accent3>
      <a:accent4>
        <a:srgbClr val="FF7734"/>
      </a:accent4>
      <a:accent5>
        <a:srgbClr val="EF9337"/>
      </a:accent5>
      <a:accent6>
        <a:srgbClr val="ED5920"/>
      </a:accent6>
      <a:hlink>
        <a:srgbClr val="FF7734"/>
      </a:hlink>
      <a:folHlink>
        <a:srgbClr val="3E8DE0"/>
      </a:folHlink>
    </a:clrScheme>
    <a:fontScheme name="Custom 1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le Page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D5920"/>
      </a:accent1>
      <a:accent2>
        <a:srgbClr val="3E8DE0"/>
      </a:accent2>
      <a:accent3>
        <a:srgbClr val="004F99"/>
      </a:accent3>
      <a:accent4>
        <a:srgbClr val="FF7734"/>
      </a:accent4>
      <a:accent5>
        <a:srgbClr val="EF9337"/>
      </a:accent5>
      <a:accent6>
        <a:srgbClr val="ED5920"/>
      </a:accent6>
      <a:hlink>
        <a:srgbClr val="FF7734"/>
      </a:hlink>
      <a:folHlink>
        <a:srgbClr val="3E8DE0"/>
      </a:folHlink>
    </a:clrScheme>
    <a:fontScheme name="Custom 1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Divider Slide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Custom Desig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THANK YOU SLIDE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D5920"/>
      </a:accent1>
      <a:accent2>
        <a:srgbClr val="3E8DE0"/>
      </a:accent2>
      <a:accent3>
        <a:srgbClr val="004F99"/>
      </a:accent3>
      <a:accent4>
        <a:srgbClr val="FF7734"/>
      </a:accent4>
      <a:accent5>
        <a:srgbClr val="EF9337"/>
      </a:accent5>
      <a:accent6>
        <a:srgbClr val="ED5920"/>
      </a:accent6>
      <a:hlink>
        <a:srgbClr val="FF7734"/>
      </a:hlink>
      <a:folHlink>
        <a:srgbClr val="3E8DE0"/>
      </a:folHlink>
    </a:clrScheme>
    <a:fontScheme name="Custom 1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C05360179E8C47A5EAB0B10EFD8F33" ma:contentTypeVersion="7" ma:contentTypeDescription="Create a new document." ma:contentTypeScope="" ma:versionID="a0d8c7e0c5c9852be8bce7aaad801b93">
  <xsd:schema xmlns:xsd="http://www.w3.org/2001/XMLSchema" xmlns:xs="http://www.w3.org/2001/XMLSchema" xmlns:p="http://schemas.microsoft.com/office/2006/metadata/properties" xmlns:ns2="09dca4bd-b14e-4d72-97d2-87e4e41f7186" targetNamespace="http://schemas.microsoft.com/office/2006/metadata/properties" ma:root="true" ma:fieldsID="2dbe5317e633578ac390d69c09f803fd" ns2:_="">
    <xsd:import namespace="09dca4bd-b14e-4d72-97d2-87e4e41f71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dca4bd-b14e-4d72-97d2-87e4e41f71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8901A7-614B-4137-8C1B-6C782BB00498}">
  <ds:schemaRefs>
    <ds:schemaRef ds:uri="http://schemas.microsoft.com/office/2006/metadata/properties"/>
    <ds:schemaRef ds:uri="http://schemas.microsoft.com/office/infopath/2007/PartnerControls"/>
    <ds:schemaRef ds:uri="8cee5670-889e-4341-900c-db03788834a7"/>
    <ds:schemaRef ds:uri="79dee309-6d50-45f9-9616-781328d79662"/>
  </ds:schemaRefs>
</ds:datastoreItem>
</file>

<file path=customXml/itemProps2.xml><?xml version="1.0" encoding="utf-8"?>
<ds:datastoreItem xmlns:ds="http://schemas.openxmlformats.org/officeDocument/2006/customXml" ds:itemID="{0EADBBD2-2B1A-4774-B8AA-5705BAC1744A}"/>
</file>

<file path=customXml/itemProps3.xml><?xml version="1.0" encoding="utf-8"?>
<ds:datastoreItem xmlns:ds="http://schemas.openxmlformats.org/officeDocument/2006/customXml" ds:itemID="{48AE8B5E-ADF6-4C55-9586-0C3FB1D8BC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12241</TotalTime>
  <Words>1059</Words>
  <Application>Microsoft Office PowerPoint</Application>
  <PresentationFormat>Widescreen</PresentationFormat>
  <Paragraphs>293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COVER PAGE 1</vt:lpstr>
      <vt:lpstr>2_Agenda 1</vt:lpstr>
      <vt:lpstr>Title Page</vt:lpstr>
      <vt:lpstr>1_Divider Slide 2</vt:lpstr>
      <vt:lpstr>1_Custom Design</vt:lpstr>
      <vt:lpstr>1_THANK YOU SLIDE</vt:lpstr>
      <vt:lpstr>PowerPoint Presentation</vt:lpstr>
      <vt:lpstr>PowerPoint Presentation</vt:lpstr>
      <vt:lpstr>Proposal Overview</vt:lpstr>
      <vt:lpstr>PowerPoint Presentation</vt:lpstr>
      <vt:lpstr>Proposal Sign-off Status</vt:lpstr>
      <vt:lpstr>PowerPoint Presentation</vt:lpstr>
      <vt:lpstr>Project scope, Timeline &amp; Milestones</vt:lpstr>
      <vt:lpstr>PowerPoint Presentation</vt:lpstr>
      <vt:lpstr>PowerPoint Presentation</vt:lpstr>
      <vt:lpstr>Top 5 - Risks, Assumptions, Issues &amp; Dependencies</vt:lpstr>
      <vt:lpstr>PowerPoint Presentation</vt:lpstr>
      <vt:lpstr>Hand-Over Status Proposal to Delivery Team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Pranavkumar Nimgade</dc:creator>
  <cp:lastModifiedBy>Laique Shaikh</cp:lastModifiedBy>
  <cp:revision>25</cp:revision>
  <dcterms:created xsi:type="dcterms:W3CDTF">2024-08-26T10:39:55Z</dcterms:created>
  <dcterms:modified xsi:type="dcterms:W3CDTF">2025-11-26T13:07:47Z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0x0101007EC05360179E8C47A5EAB0B10EFD8F33</vt:lpwstr>
  </property>
  <property fmtid="{D5CDD505-2E9C-101B-9397-08002B2CF9AE}" pid="3" name="MediaServiceImageTags">
    <vt:lpwstr/>
  </property>
</Properties>
</file>